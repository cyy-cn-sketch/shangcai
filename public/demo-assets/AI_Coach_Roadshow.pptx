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9.svg" ContentType="image/svg+xml"/>
  <Override PartName="/ppt/media/image29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2192000" cy="6858000"/>
  <p:notesSz cx="6858000" cy="12192000"/>
  <p:custDataLst>
    <p:tags r:id="rId17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gs" Target="tags/tag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8.sv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4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19.svg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27.png"/><Relationship Id="rId7" Type="http://schemas.openxmlformats.org/officeDocument/2006/relationships/image" Target="../media/image26.png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0" Type="http://schemas.openxmlformats.org/officeDocument/2006/relationships/notesSlide" Target="../notesSlides/notesSlide5.xml"/><Relationship Id="rId1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9.svg"/><Relationship Id="rId3" Type="http://schemas.openxmlformats.org/officeDocument/2006/relationships/image" Target="../media/image28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0.png"/><Relationship Id="rId1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8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Relationship Id="rId3" Type="http://schemas.openxmlformats.org/officeDocument/2006/relationships/image" Target="../media/image31.png"/><Relationship Id="rId2" Type="http://schemas.openxmlformats.org/officeDocument/2006/relationships/image" Target="../media/image6.png"/><Relationship Id="rId1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5.png"/><Relationship Id="rId2" Type="http://schemas.openxmlformats.org/officeDocument/2006/relationships/image" Target="../media/image6.png"/><Relationship Id="rId1" Type="http://schemas.openxmlformats.org/officeDocument/2006/relationships/image" Target="../media/image34.png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0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39.png"/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29314" y="0"/>
            <a:ext cx="4762381" cy="4762381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6286343"/>
            <a:ext cx="12191695" cy="571486"/>
          </a:xfrm>
          <a:prstGeom prst="rect">
            <a:avLst/>
          </a:prstGeom>
          <a:solidFill>
            <a:srgbClr val="F5F5F5"/>
          </a:solidFill>
        </p:spPr>
      </p:sp>
      <p:sp>
        <p:nvSpPr>
          <p:cNvPr id="4" name="Shape 1"/>
          <p:cNvSpPr/>
          <p:nvPr/>
        </p:nvSpPr>
        <p:spPr>
          <a:xfrm>
            <a:off x="0" y="6286343"/>
            <a:ext cx="12191695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61981" y="6424452"/>
            <a:ext cx="304792" cy="304792"/>
          </a:xfrm>
          <a:prstGeom prst="rect">
            <a:avLst/>
          </a:prstGeom>
          <a:solidFill>
            <a:srgbClr val="003366"/>
          </a:solidFill>
        </p:spPr>
      </p:sp>
      <p:sp>
        <p:nvSpPr>
          <p:cNvPr id="6" name="Text 3"/>
          <p:cNvSpPr/>
          <p:nvPr/>
        </p:nvSpPr>
        <p:spPr>
          <a:xfrm>
            <a:off x="857229" y="6510175"/>
            <a:ext cx="133347" cy="13334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219170" y="6500650"/>
            <a:ext cx="3450791" cy="15239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Empowering Business Education with Artificial Intelligence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8651460" y="6510175"/>
            <a:ext cx="2036364" cy="13334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AAAA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SUFE School of Business © 2026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125964" y="6505412"/>
            <a:ext cx="322800" cy="14287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9999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 / 10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761981" y="2065980"/>
            <a:ext cx="380990" cy="19050"/>
          </a:xfrm>
          <a:prstGeom prst="rect">
            <a:avLst/>
          </a:prstGeom>
          <a:solidFill>
            <a:srgbClr val="D4AF37"/>
          </a:solidFill>
        </p:spPr>
      </p:sp>
      <p:sp>
        <p:nvSpPr>
          <p:cNvPr id="11" name="Text 8"/>
          <p:cNvSpPr/>
          <p:nvPr/>
        </p:nvSpPr>
        <p:spPr>
          <a:xfrm>
            <a:off x="1142971" y="1946921"/>
            <a:ext cx="6038699" cy="257169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kern="0" spc="15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上海财经大学商学院 · 创业实践课程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761981" y="2432684"/>
            <a:ext cx="948458" cy="16192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kern="0" spc="15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 就业教练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761981" y="2600260"/>
            <a:ext cx="0" cy="853359"/>
          </a:xfrm>
          <a:prstGeom prst="line">
            <a:avLst/>
          </a:prstGeom>
          <a:noFill/>
          <a:ln w="38099">
            <a:solidFill>
              <a:srgbClr val="D4AF3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61981" y="2600260"/>
            <a:ext cx="6400640" cy="853359"/>
          </a:xfrm>
          <a:prstGeom prst="rect">
            <a:avLst/>
          </a:prstGeom>
          <a:noFill/>
        </p:spPr>
        <p:txBody>
          <a:bodyPr wrap="square" lIns="171446" tIns="0" rIns="0" bIns="0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面向商学院学生的职业发展与</a:t>
            </a:r>
            <a:endParaRPr lang="en-US" sz="2400" dirty="0"/>
          </a:p>
          <a:p>
            <a:pPr marL="0" indent="0" algn="l">
              <a:buNone/>
            </a:pPr>
            <a:endParaRPr lang="en-US" sz="2400" dirty="0"/>
          </a:p>
          <a:p>
            <a:pPr marL="0" indent="0" algn="l">
              <a:buNone/>
            </a:pPr>
            <a:r>
              <a:rPr lang="en-US" sz="24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                  创业实践训练平台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761981" y="3939382"/>
            <a:ext cx="533387" cy="19049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演讲者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1619210" y="3939382"/>
            <a:ext cx="962150" cy="19049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乐享 AI 助手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761981" y="4310848"/>
            <a:ext cx="704832" cy="19049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路演日期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1619210" y="4310848"/>
            <a:ext cx="1296261" cy="19049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2026年06月10日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761981" y="4682313"/>
            <a:ext cx="704832" cy="19049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项目类别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1619210" y="4682313"/>
            <a:ext cx="2267191" cy="19049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教育科技 (EdTech) / 职业发展</a:t>
            </a:r>
            <a:endParaRPr lang="en-US" sz="1350" dirty="0"/>
          </a:p>
        </p:txBody>
      </p:sp>
      <p:sp>
        <p:nvSpPr>
          <p:cNvPr id="21" name="Shape 18"/>
          <p:cNvSpPr/>
          <p:nvPr/>
        </p:nvSpPr>
        <p:spPr>
          <a:xfrm rot="120000">
            <a:off x="7610718" y="888833"/>
            <a:ext cx="3904285" cy="5080164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2" name="Shape 19"/>
          <p:cNvSpPr/>
          <p:nvPr/>
        </p:nvSpPr>
        <p:spPr>
          <a:xfrm>
            <a:off x="7467847" y="745961"/>
            <a:ext cx="3733707" cy="4952876"/>
          </a:xfrm>
          <a:prstGeom prst="rect">
            <a:avLst/>
          </a:prstGeom>
          <a:ln w="19050">
            <a:solidFill>
              <a:srgbClr val="D4AF37"/>
            </a:solidFill>
            <a:prstDash val="solid"/>
          </a:ln>
        </p:spPr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7709232" y="987346"/>
            <a:ext cx="3707258" cy="4883136"/>
          </a:xfrm>
          <a:prstGeom prst="rect">
            <a:avLst/>
          </a:prstGeom>
        </p:spPr>
      </p:pic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8937230" y="5370758"/>
            <a:ext cx="2232492" cy="40121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8937230" y="5370758"/>
            <a:ext cx="2232492" cy="401210"/>
          </a:xfrm>
          <a:prstGeom prst="rect">
            <a:avLst/>
          </a:prstGeom>
          <a:noFill/>
        </p:spPr>
        <p:txBody>
          <a:bodyPr wrap="square" lIns="137157" tIns="76198" rIns="137157" bIns="76198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SUFE 中山北一路校区 · 创业实践基地</a:t>
            </a:r>
            <a:endParaRPr lang="en-US" sz="900" dirty="0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11429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4742" y="9525"/>
            <a:ext cx="2857429" cy="7619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525" y="1438239"/>
            <a:ext cx="38099" cy="3809905"/>
          </a:xfrm>
          <a:prstGeom prst="rect">
            <a:avLst/>
          </a:prstGeom>
          <a:solidFill>
            <a:srgbClr val="003366"/>
          </a:solidFill>
        </p:spPr>
      </p:sp>
      <p:sp>
        <p:nvSpPr>
          <p:cNvPr id="4" name="Shape 1"/>
          <p:cNvSpPr/>
          <p:nvPr/>
        </p:nvSpPr>
        <p:spPr>
          <a:xfrm>
            <a:off x="581010" y="466713"/>
            <a:ext cx="0" cy="411351"/>
          </a:xfrm>
          <a:prstGeom prst="line">
            <a:avLst/>
          </a:prstGeom>
          <a:noFill/>
          <a:ln w="57149">
            <a:solidFill>
              <a:srgbClr val="D4AF3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28654" y="476238"/>
            <a:ext cx="2856684" cy="16192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kern="0" spc="-24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痛点分析：传统创业教育与求职准备的鸿沟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828654" y="678044"/>
            <a:ext cx="2457537" cy="16192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学生与教师在实践教学中的共性难题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81010" y="1259054"/>
            <a:ext cx="5808319" cy="1207561"/>
          </a:xfrm>
          <a:prstGeom prst="roundRect">
            <a:avLst>
              <a:gd name="adj" fmla="val 3155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81030" y="1459074"/>
            <a:ext cx="304792" cy="304792"/>
          </a:xfrm>
          <a:prstGeom prst="ellipse">
            <a:avLst/>
          </a:prstGeom>
          <a:solidFill>
            <a:srgbClr val="003366">
              <a:alpha val="10000"/>
            </a:srgbClr>
          </a:solidFill>
        </p:spPr>
      </p:sp>
      <p:sp>
        <p:nvSpPr>
          <p:cNvPr id="9" name="Text 6"/>
          <p:cNvSpPr/>
          <p:nvPr/>
        </p:nvSpPr>
        <p:spPr>
          <a:xfrm>
            <a:off x="704832" y="1459074"/>
            <a:ext cx="457189" cy="304792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200120" y="1511461"/>
            <a:ext cx="1047724" cy="19049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想法多但分散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781030" y="1840065"/>
            <a:ext cx="5408279" cy="42653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学生创意丰富但</a:t>
            </a:r>
            <a:r>
              <a:rPr lang="en-US" sz="1050" b="1" dirty="0">
                <a:solidFill>
                  <a:srgbClr val="D4AF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缺乏逻辑梳理工具</a:t>
            </a: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，难以将碎片化的灵感转化为具备商业可行性的系统方案。 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81010" y="2619012"/>
            <a:ext cx="5808319" cy="994296"/>
          </a:xfrm>
          <a:prstGeom prst="roundRect">
            <a:avLst>
              <a:gd name="adj" fmla="val 3832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81030" y="2819032"/>
            <a:ext cx="304792" cy="304792"/>
          </a:xfrm>
          <a:prstGeom prst="ellipse">
            <a:avLst/>
          </a:prstGeom>
          <a:solidFill>
            <a:srgbClr val="003366">
              <a:alpha val="10000"/>
            </a:srgbClr>
          </a:solidFill>
        </p:spPr>
      </p:sp>
      <p:sp>
        <p:nvSpPr>
          <p:cNvPr id="14" name="Text 11"/>
          <p:cNvSpPr/>
          <p:nvPr/>
        </p:nvSpPr>
        <p:spPr>
          <a:xfrm>
            <a:off x="704832" y="2819032"/>
            <a:ext cx="457189" cy="304792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200120" y="2871418"/>
            <a:ext cx="876278" cy="19049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简历表达弱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781030" y="3200022"/>
            <a:ext cx="5408279" cy="21326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缺乏商科专业语境下的自我价值挖掘，通用型表达导致</a:t>
            </a:r>
            <a:r>
              <a:rPr lang="en-US" sz="1050" b="1" dirty="0">
                <a:solidFill>
                  <a:srgbClr val="D4AF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岗位匹配度低</a:t>
            </a: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，难以通过初筛。 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581010" y="3765704"/>
            <a:ext cx="5808319" cy="994296"/>
          </a:xfrm>
          <a:prstGeom prst="roundRect">
            <a:avLst>
              <a:gd name="adj" fmla="val 3832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81030" y="3965724"/>
            <a:ext cx="304792" cy="304792"/>
          </a:xfrm>
          <a:prstGeom prst="ellipse">
            <a:avLst/>
          </a:prstGeom>
          <a:solidFill>
            <a:srgbClr val="003366">
              <a:alpha val="10000"/>
            </a:srgbClr>
          </a:solidFill>
        </p:spPr>
      </p:sp>
      <p:sp>
        <p:nvSpPr>
          <p:cNvPr id="19" name="Text 16"/>
          <p:cNvSpPr/>
          <p:nvPr/>
        </p:nvSpPr>
        <p:spPr>
          <a:xfrm>
            <a:off x="704832" y="3965724"/>
            <a:ext cx="457189" cy="304792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1200120" y="4018110"/>
            <a:ext cx="1047724" cy="19049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缺少持续反馈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781030" y="4346714"/>
            <a:ext cx="5408279" cy="21326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传统的“提交-批改”模式周期长，学生在撰写BP或准备路演的</a:t>
            </a:r>
            <a:r>
              <a:rPr lang="en-US" sz="1050" b="1" dirty="0">
                <a:solidFill>
                  <a:srgbClr val="D4AF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关键节点缺乏即时指导</a:t>
            </a: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 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581010" y="4912396"/>
            <a:ext cx="5808319" cy="994296"/>
          </a:xfrm>
          <a:prstGeom prst="roundRect">
            <a:avLst>
              <a:gd name="adj" fmla="val 3832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81030" y="5112416"/>
            <a:ext cx="304792" cy="304792"/>
          </a:xfrm>
          <a:prstGeom prst="ellipse">
            <a:avLst/>
          </a:prstGeom>
          <a:solidFill>
            <a:srgbClr val="003366">
              <a:alpha val="10000"/>
            </a:srgbClr>
          </a:solidFill>
        </p:spPr>
      </p:sp>
      <p:sp>
        <p:nvSpPr>
          <p:cNvPr id="24" name="Text 21"/>
          <p:cNvSpPr/>
          <p:nvPr/>
        </p:nvSpPr>
        <p:spPr>
          <a:xfrm>
            <a:off x="704832" y="5112416"/>
            <a:ext cx="457189" cy="304792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1200120" y="5164802"/>
            <a:ext cx="1219170" cy="19049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老师指导成本高</a:t>
            </a:r>
            <a:endParaRPr lang="en-US" sz="1350" dirty="0"/>
          </a:p>
        </p:txBody>
      </p:sp>
      <p:sp>
        <p:nvSpPr>
          <p:cNvPr id="26" name="Text 23"/>
          <p:cNvSpPr/>
          <p:nvPr/>
        </p:nvSpPr>
        <p:spPr>
          <a:xfrm>
            <a:off x="781030" y="5493406"/>
            <a:ext cx="5408279" cy="21326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面对海量学生项目，指导教师难以实现精细化的</a:t>
            </a:r>
            <a:r>
              <a:rPr lang="en-US" sz="1050" b="1" dirty="0">
                <a:solidFill>
                  <a:srgbClr val="D4AF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全量过程化管理</a:t>
            </a: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，反馈效率存在瓶颈。 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6770320" y="1259054"/>
            <a:ext cx="4840365" cy="5598774"/>
          </a:xfrm>
          <a:prstGeom prst="roundRect">
            <a:avLst>
              <a:gd name="adj" fmla="val 1574"/>
            </a:avLst>
          </a:prstGeom>
          <a:solidFill>
            <a:srgbClr val="FFFFFF"/>
          </a:solidFill>
          <a:ln w="9525">
            <a:solidFill>
              <a:srgbClr val="F0F0F0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8476145" y="1440025"/>
            <a:ext cx="1428714" cy="228594"/>
          </a:xfrm>
          <a:prstGeom prst="roundRect">
            <a:avLst>
              <a:gd name="adj" fmla="val 50000"/>
            </a:avLst>
          </a:prstGeom>
          <a:solidFill>
            <a:srgbClr val="EFF6FF"/>
          </a:solidFill>
        </p:spPr>
      </p:sp>
      <p:sp>
        <p:nvSpPr>
          <p:cNvPr id="29" name="Shape 26"/>
          <p:cNvSpPr/>
          <p:nvPr/>
        </p:nvSpPr>
        <p:spPr>
          <a:xfrm>
            <a:off x="8476145" y="1440025"/>
            <a:ext cx="1428714" cy="228594"/>
          </a:xfrm>
          <a:prstGeom prst="roundRect">
            <a:avLst>
              <a:gd name="adj" fmla="val 50000"/>
            </a:avLst>
          </a:prstGeom>
          <a:solidFill>
            <a:srgbClr val="EFF6FF"/>
          </a:solidFill>
        </p:spPr>
      </p:sp>
      <p:sp>
        <p:nvSpPr>
          <p:cNvPr id="30" name="Text 27"/>
          <p:cNvSpPr/>
          <p:nvPr/>
        </p:nvSpPr>
        <p:spPr>
          <a:xfrm>
            <a:off x="8476145" y="1440025"/>
            <a:ext cx="1428714" cy="228594"/>
          </a:xfrm>
          <a:prstGeom prst="rect">
            <a:avLst/>
          </a:prstGeom>
          <a:noFill/>
        </p:spPr>
        <p:txBody>
          <a:bodyPr wrap="none" lIns="102867" tIns="0" rIns="102867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教学模式分析象限图</a:t>
            </a:r>
            <a:endParaRPr lang="en-US" sz="1050" dirty="0"/>
          </a:p>
        </p:txBody>
      </p:sp>
      <p:pic>
        <p:nvPicPr>
          <p:cNvPr id="31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>
          <a:xfrm>
            <a:off x="6970340" y="1801966"/>
            <a:ext cx="4440325" cy="4440325"/>
          </a:xfrm>
          <a:prstGeom prst="rect">
            <a:avLst/>
          </a:prstGeom>
        </p:spPr>
      </p:pic>
      <p:sp>
        <p:nvSpPr>
          <p:cNvPr id="32" name="Shape 28"/>
          <p:cNvSpPr/>
          <p:nvPr/>
        </p:nvSpPr>
        <p:spPr>
          <a:xfrm>
            <a:off x="6970340" y="6394687"/>
            <a:ext cx="4440325" cy="463142"/>
          </a:xfrm>
          <a:prstGeom prst="rect">
            <a:avLst/>
          </a:prstGeom>
          <a:solidFill>
            <a:srgbClr val="F9FAFB"/>
          </a:solidFill>
        </p:spPr>
      </p:sp>
      <p:sp>
        <p:nvSpPr>
          <p:cNvPr id="33" name="Shape 29"/>
          <p:cNvSpPr/>
          <p:nvPr/>
        </p:nvSpPr>
        <p:spPr>
          <a:xfrm>
            <a:off x="6970340" y="6394687"/>
            <a:ext cx="0" cy="463142"/>
          </a:xfrm>
          <a:prstGeom prst="line">
            <a:avLst/>
          </a:prstGeom>
          <a:noFill/>
          <a:ln w="38099">
            <a:solidFill>
              <a:srgbClr val="E5E7EB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6970340" y="6394687"/>
            <a:ext cx="4440325" cy="463142"/>
          </a:xfrm>
          <a:prstGeom prst="rect">
            <a:avLst/>
          </a:prstGeom>
          <a:noFill/>
        </p:spPr>
        <p:txBody>
          <a:bodyPr wrap="square" lIns="102867" tIns="114297" rIns="102867" bIns="114297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注：传统模式下，由于人力成本限制，反馈频率与质量呈负相关。AI工具的介入旨在打破此物理瓶颈，实现规模化的高频高质量反馈。</a:t>
            </a:r>
            <a:endParaRPr lang="en-US" sz="900" dirty="0"/>
          </a:p>
        </p:txBody>
      </p:sp>
      <p:sp>
        <p:nvSpPr>
          <p:cNvPr id="35" name="Shape 31"/>
          <p:cNvSpPr/>
          <p:nvPr/>
        </p:nvSpPr>
        <p:spPr>
          <a:xfrm>
            <a:off x="581010" y="6419690"/>
            <a:ext cx="114297" cy="114297"/>
          </a:xfrm>
          <a:prstGeom prst="rect">
            <a:avLst/>
          </a:prstGeom>
          <a:solidFill>
            <a:srgbClr val="D4AF37"/>
          </a:solidFill>
        </p:spPr>
      </p:sp>
      <p:sp>
        <p:nvSpPr>
          <p:cNvPr id="36" name="Text 32"/>
          <p:cNvSpPr/>
          <p:nvPr/>
        </p:nvSpPr>
        <p:spPr>
          <a:xfrm>
            <a:off x="695308" y="6391115"/>
            <a:ext cx="2133695" cy="17144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上海财经大学商学院 · 创业实践课程路演</a:t>
            </a:r>
            <a:endParaRPr lang="en-US" sz="900" dirty="0"/>
          </a:p>
        </p:txBody>
      </p:sp>
      <p:sp>
        <p:nvSpPr>
          <p:cNvPr id="37" name="Text 33"/>
          <p:cNvSpPr/>
          <p:nvPr/>
        </p:nvSpPr>
        <p:spPr>
          <a:xfrm>
            <a:off x="11306934" y="6391115"/>
            <a:ext cx="322800" cy="14287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9999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 / 10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4742" y="9525"/>
            <a:ext cx="2857429" cy="7619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525" y="1438239"/>
            <a:ext cx="38099" cy="3809905"/>
          </a:xfrm>
          <a:prstGeom prst="rect">
            <a:avLst/>
          </a:prstGeom>
          <a:solidFill>
            <a:srgbClr val="003366"/>
          </a:solidFill>
        </p:spPr>
      </p:sp>
      <p:sp>
        <p:nvSpPr>
          <p:cNvPr id="4" name="Shape 1"/>
          <p:cNvSpPr/>
          <p:nvPr/>
        </p:nvSpPr>
        <p:spPr>
          <a:xfrm>
            <a:off x="581010" y="466713"/>
            <a:ext cx="0" cy="411351"/>
          </a:xfrm>
          <a:prstGeom prst="line">
            <a:avLst/>
          </a:prstGeom>
          <a:noFill/>
          <a:ln w="57149">
            <a:solidFill>
              <a:srgbClr val="D4AF3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28654" y="476238"/>
            <a:ext cx="1661922" cy="16192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kern="0" spc="-24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目标用户与多元使用场景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828654" y="678044"/>
            <a:ext cx="2152745" cy="16192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精准覆盖商学院教学与求职链路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81010" y="1287629"/>
            <a:ext cx="2285943" cy="9525"/>
          </a:xfrm>
          <a:prstGeom prst="rect">
            <a:avLst/>
          </a:prstGeom>
          <a:solidFill>
            <a:srgbClr val="DDDDDD"/>
          </a:solidFill>
        </p:spPr>
      </p:sp>
      <p:sp>
        <p:nvSpPr>
          <p:cNvPr id="8" name="Text 5"/>
          <p:cNvSpPr/>
          <p:nvPr/>
        </p:nvSpPr>
        <p:spPr>
          <a:xfrm>
            <a:off x="809605" y="1192381"/>
            <a:ext cx="1047724" cy="19049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核心目标群体</a:t>
            </a:r>
            <a:endParaRPr lang="en-US" sz="13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10" y="1216193"/>
            <a:ext cx="152396" cy="152396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81010" y="1563847"/>
            <a:ext cx="3619410" cy="1200120"/>
          </a:xfrm>
          <a:prstGeom prst="roundRect">
            <a:avLst>
              <a:gd name="adj" fmla="val 3175"/>
            </a:avLst>
          </a:prstGeom>
          <a:solidFill>
            <a:srgbClr val="FFFFFF">
              <a:alpha val="80000"/>
            </a:srgbClr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742931" y="1744817"/>
            <a:ext cx="635034" cy="13334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D4AF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STUDENTS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742931" y="1963887"/>
            <a:ext cx="1705081" cy="19049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商学院本科生 / 研究生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742931" y="2249630"/>
            <a:ext cx="3295568" cy="32860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追求职业发展的商科精英，需要从职业定位到简历、面试的全流程 AI 伴随式辅导。</a:t>
            </a:r>
            <a:endParaRPr lang="en-US" sz="975" dirty="0"/>
          </a:p>
        </p:txBody>
      </p:sp>
      <p:sp>
        <p:nvSpPr>
          <p:cNvPr id="14" name="Shape 10"/>
          <p:cNvSpPr/>
          <p:nvPr/>
        </p:nvSpPr>
        <p:spPr>
          <a:xfrm>
            <a:off x="581010" y="2878264"/>
            <a:ext cx="3619410" cy="1200120"/>
          </a:xfrm>
          <a:prstGeom prst="roundRect">
            <a:avLst>
              <a:gd name="adj" fmla="val 3175"/>
            </a:avLst>
          </a:prstGeom>
          <a:solidFill>
            <a:srgbClr val="FFFFFF">
              <a:alpha val="80000"/>
            </a:srgbClr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742931" y="3059234"/>
            <a:ext cx="1086121" cy="13334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D4AF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PROJECT GROUPS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742931" y="3278304"/>
            <a:ext cx="1390615" cy="19049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创业实践课程小组</a:t>
            </a:r>
            <a:endParaRPr lang="en-US" sz="1350" dirty="0"/>
          </a:p>
        </p:txBody>
      </p:sp>
      <p:sp>
        <p:nvSpPr>
          <p:cNvPr id="17" name="Text 13"/>
          <p:cNvSpPr/>
          <p:nvPr/>
        </p:nvSpPr>
        <p:spPr>
          <a:xfrm>
            <a:off x="742931" y="3564047"/>
            <a:ext cx="3295568" cy="32860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通过 AI 协作工具完成商业计划书（BP）撰写、路演 PPT 制作与团队模拟答辩。</a:t>
            </a:r>
            <a:endParaRPr lang="en-US" sz="975" dirty="0"/>
          </a:p>
        </p:txBody>
      </p:sp>
      <p:sp>
        <p:nvSpPr>
          <p:cNvPr id="18" name="Shape 14"/>
          <p:cNvSpPr/>
          <p:nvPr/>
        </p:nvSpPr>
        <p:spPr>
          <a:xfrm>
            <a:off x="581010" y="4192681"/>
            <a:ext cx="3619410" cy="1200120"/>
          </a:xfrm>
          <a:prstGeom prst="roundRect">
            <a:avLst>
              <a:gd name="adj" fmla="val 3175"/>
            </a:avLst>
          </a:prstGeom>
          <a:solidFill>
            <a:srgbClr val="FFFFFF">
              <a:alpha val="80000"/>
            </a:srgbClr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742931" y="4383176"/>
            <a:ext cx="1562061" cy="19049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就业指导办公室教师</a:t>
            </a:r>
            <a:endParaRPr lang="en-US" sz="1350" dirty="0"/>
          </a:p>
        </p:txBody>
      </p:sp>
      <p:sp>
        <p:nvSpPr>
          <p:cNvPr id="20" name="Text 16"/>
          <p:cNvSpPr/>
          <p:nvPr/>
        </p:nvSpPr>
        <p:spPr>
          <a:xfrm>
            <a:off x="742931" y="4668919"/>
            <a:ext cx="1253101" cy="13334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D4AF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FACULTY &amp; COACHES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742931" y="4878464"/>
            <a:ext cx="3295568" cy="32860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实现学生项目及成果的批量化审核、精准点评，沉淀商学院优秀就业与创业案例。</a:t>
            </a:r>
            <a:endParaRPr lang="en-US" sz="975" dirty="0"/>
          </a:p>
        </p:txBody>
      </p:sp>
      <p:sp>
        <p:nvSpPr>
          <p:cNvPr id="22" name="Shape 18"/>
          <p:cNvSpPr/>
          <p:nvPr/>
        </p:nvSpPr>
        <p:spPr>
          <a:xfrm>
            <a:off x="4581410" y="1287629"/>
            <a:ext cx="5010025" cy="9525"/>
          </a:xfrm>
          <a:prstGeom prst="rect">
            <a:avLst/>
          </a:prstGeom>
          <a:solidFill>
            <a:srgbClr val="DDDDDD"/>
          </a:solidFill>
        </p:spPr>
      </p:sp>
      <p:sp>
        <p:nvSpPr>
          <p:cNvPr id="23" name="Text 19"/>
          <p:cNvSpPr/>
          <p:nvPr/>
        </p:nvSpPr>
        <p:spPr>
          <a:xfrm>
            <a:off x="4810005" y="1192381"/>
            <a:ext cx="1733507" cy="19049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全链路教学与实战场景</a:t>
            </a:r>
            <a:endParaRPr lang="en-US" sz="1350" dirty="0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1410" y="1216193"/>
            <a:ext cx="152396" cy="152396"/>
          </a:xfrm>
          <a:prstGeom prst="rect">
            <a:avLst/>
          </a:prstGeom>
        </p:spPr>
      </p:pic>
      <p:sp>
        <p:nvSpPr>
          <p:cNvPr id="25" name="Shape 20"/>
          <p:cNvSpPr/>
          <p:nvPr/>
        </p:nvSpPr>
        <p:spPr>
          <a:xfrm>
            <a:off x="4581410" y="1563847"/>
            <a:ext cx="3443201" cy="839072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6" name="Shape 21"/>
          <p:cNvSpPr/>
          <p:nvPr/>
        </p:nvSpPr>
        <p:spPr>
          <a:xfrm>
            <a:off x="4581410" y="1563847"/>
            <a:ext cx="0" cy="839072"/>
          </a:xfrm>
          <a:prstGeom prst="line">
            <a:avLst/>
          </a:prstGeom>
          <a:noFill/>
          <a:ln w="28574">
            <a:solidFill>
              <a:srgbClr val="003366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4743331" y="1716243"/>
            <a:ext cx="1074959" cy="16192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 课堂讨论场景</a:t>
            </a:r>
            <a:endParaRPr lang="en-US" sz="1125" dirty="0"/>
          </a:p>
        </p:txBody>
      </p:sp>
      <p:sp>
        <p:nvSpPr>
          <p:cNvPr id="28" name="Text 23"/>
          <p:cNvSpPr/>
          <p:nvPr/>
        </p:nvSpPr>
        <p:spPr>
          <a:xfrm>
            <a:off x="4743331" y="1959124"/>
            <a:ext cx="3147934" cy="29333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实时捕捉头脑风暴灵感，利用 AI 快速生成商业逻辑框架，提升讨论效率。</a:t>
            </a:r>
            <a:endParaRPr lang="en-US" sz="900" dirty="0"/>
          </a:p>
        </p:txBody>
      </p:sp>
      <p:sp>
        <p:nvSpPr>
          <p:cNvPr id="29" name="Shape 24"/>
          <p:cNvSpPr/>
          <p:nvPr/>
        </p:nvSpPr>
        <p:spPr>
          <a:xfrm>
            <a:off x="8167483" y="1563847"/>
            <a:ext cx="3443201" cy="839072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0" name="Shape 25"/>
          <p:cNvSpPr/>
          <p:nvPr/>
        </p:nvSpPr>
        <p:spPr>
          <a:xfrm>
            <a:off x="8167483" y="1563847"/>
            <a:ext cx="0" cy="839072"/>
          </a:xfrm>
          <a:prstGeom prst="line">
            <a:avLst/>
          </a:prstGeom>
          <a:noFill/>
          <a:ln w="28574">
            <a:solidFill>
              <a:srgbClr val="003366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8329404" y="1716243"/>
            <a:ext cx="1074959" cy="16192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 文档产出场景</a:t>
            </a:r>
            <a:endParaRPr lang="en-US" sz="1125" dirty="0"/>
          </a:p>
        </p:txBody>
      </p:sp>
      <p:sp>
        <p:nvSpPr>
          <p:cNvPr id="32" name="Text 27"/>
          <p:cNvSpPr/>
          <p:nvPr/>
        </p:nvSpPr>
        <p:spPr>
          <a:xfrm>
            <a:off x="8329404" y="1959124"/>
            <a:ext cx="3147934" cy="29333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高效生成高质量商业计划书（BP）初稿，一键转化路演 PPT 专业模板。</a:t>
            </a:r>
            <a:endParaRPr lang="en-US" sz="900" dirty="0"/>
          </a:p>
        </p:txBody>
      </p:sp>
      <p:sp>
        <p:nvSpPr>
          <p:cNvPr id="33" name="Shape 28"/>
          <p:cNvSpPr/>
          <p:nvPr/>
        </p:nvSpPr>
        <p:spPr>
          <a:xfrm>
            <a:off x="4581410" y="2545790"/>
            <a:ext cx="3443201" cy="839072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4" name="Shape 29"/>
          <p:cNvSpPr/>
          <p:nvPr/>
        </p:nvSpPr>
        <p:spPr>
          <a:xfrm>
            <a:off x="4581410" y="2545790"/>
            <a:ext cx="0" cy="839072"/>
          </a:xfrm>
          <a:prstGeom prst="line">
            <a:avLst/>
          </a:prstGeom>
          <a:noFill/>
          <a:ln w="28574">
            <a:solidFill>
              <a:srgbClr val="003366"/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4743331" y="2698186"/>
            <a:ext cx="1074959" cy="16192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 答辩模拟场景</a:t>
            </a:r>
            <a:endParaRPr lang="en-US" sz="1125" dirty="0"/>
          </a:p>
        </p:txBody>
      </p:sp>
      <p:sp>
        <p:nvSpPr>
          <p:cNvPr id="36" name="Text 31"/>
          <p:cNvSpPr/>
          <p:nvPr/>
        </p:nvSpPr>
        <p:spPr>
          <a:xfrm>
            <a:off x="4743331" y="2941068"/>
            <a:ext cx="3147934" cy="29333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模拟评委进行 AI 压力面试，提供多维度的路演表现反馈与答辩技巧建议。</a:t>
            </a:r>
            <a:endParaRPr lang="en-US" sz="900" dirty="0"/>
          </a:p>
        </p:txBody>
      </p:sp>
      <p:sp>
        <p:nvSpPr>
          <p:cNvPr id="37" name="Shape 32"/>
          <p:cNvSpPr/>
          <p:nvPr/>
        </p:nvSpPr>
        <p:spPr>
          <a:xfrm>
            <a:off x="8167483" y="2545790"/>
            <a:ext cx="3443201" cy="839072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8" name="Shape 33"/>
          <p:cNvSpPr/>
          <p:nvPr/>
        </p:nvSpPr>
        <p:spPr>
          <a:xfrm>
            <a:off x="8167483" y="2545790"/>
            <a:ext cx="0" cy="839072"/>
          </a:xfrm>
          <a:prstGeom prst="line">
            <a:avLst/>
          </a:prstGeom>
          <a:noFill/>
          <a:ln w="28574">
            <a:solidFill>
              <a:srgbClr val="003366"/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>
            <a:off x="8329404" y="2698186"/>
            <a:ext cx="1074959" cy="16192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 教师审核场景</a:t>
            </a:r>
            <a:endParaRPr lang="en-US" sz="1125" dirty="0"/>
          </a:p>
        </p:txBody>
      </p:sp>
      <p:sp>
        <p:nvSpPr>
          <p:cNvPr id="40" name="Text 35"/>
          <p:cNvSpPr/>
          <p:nvPr/>
        </p:nvSpPr>
        <p:spPr>
          <a:xfrm>
            <a:off x="8329404" y="2941068"/>
            <a:ext cx="3147934" cy="29333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教师通过管理后台实现批量化、数字化审核，点评精准可回溯，成果自动存档。</a:t>
            </a:r>
            <a:endParaRPr lang="en-US" sz="900" dirty="0"/>
          </a:p>
        </p:txBody>
      </p:sp>
      <p:sp>
        <p:nvSpPr>
          <p:cNvPr id="41" name="Shape 36"/>
          <p:cNvSpPr/>
          <p:nvPr/>
        </p:nvSpPr>
        <p:spPr>
          <a:xfrm>
            <a:off x="4581410" y="3575357"/>
            <a:ext cx="7029274" cy="2666933"/>
          </a:xfrm>
          <a:prstGeom prst="roundRect">
            <a:avLst>
              <a:gd name="adj" fmla="val 1429"/>
            </a:avLst>
          </a:prstGeom>
          <a:ln w="9525">
            <a:solidFill>
              <a:srgbClr val="DDDDDD"/>
            </a:solidFill>
            <a:prstDash val="solid"/>
          </a:ln>
        </p:spPr>
      </p:sp>
      <p:pic>
        <p:nvPicPr>
          <p:cNvPr id="42" name="Image 3" descr="preencoded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4590935" y="3584882"/>
            <a:ext cx="7010225" cy="2647884"/>
          </a:xfrm>
          <a:prstGeom prst="rect">
            <a:avLst/>
          </a:prstGeom>
        </p:spPr>
      </p:pic>
      <p:pic>
        <p:nvPicPr>
          <p:cNvPr id="43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90935" y="5761290"/>
            <a:ext cx="7010225" cy="471476"/>
          </a:xfrm>
          <a:prstGeom prst="rect">
            <a:avLst/>
          </a:prstGeom>
        </p:spPr>
      </p:pic>
      <p:sp>
        <p:nvSpPr>
          <p:cNvPr id="44" name="Text 37"/>
          <p:cNvSpPr/>
          <p:nvPr/>
        </p:nvSpPr>
        <p:spPr>
          <a:xfrm>
            <a:off x="4590935" y="5761290"/>
            <a:ext cx="7010225" cy="471476"/>
          </a:xfrm>
          <a:prstGeom prst="rect">
            <a:avLst/>
          </a:prstGeom>
          <a:noFill/>
        </p:spPr>
        <p:txBody>
          <a:bodyPr wrap="square" lIns="128584" tIns="142871" rIns="128584" bIns="142871" rtlCol="0" anchor="t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上海财经大学商学院教学实景模拟</a:t>
            </a:r>
            <a:r>
              <a:rPr lang="en-US" sz="975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：AI 教练融入课堂讨论与路演模拟，打造沉浸式创业实践体验。 </a:t>
            </a:r>
            <a:endParaRPr lang="en-US" sz="975" dirty="0"/>
          </a:p>
        </p:txBody>
      </p:sp>
      <p:sp>
        <p:nvSpPr>
          <p:cNvPr id="45" name="Shape 38"/>
          <p:cNvSpPr/>
          <p:nvPr/>
        </p:nvSpPr>
        <p:spPr>
          <a:xfrm>
            <a:off x="581010" y="6419690"/>
            <a:ext cx="114297" cy="114297"/>
          </a:xfrm>
          <a:prstGeom prst="rect">
            <a:avLst/>
          </a:prstGeom>
          <a:solidFill>
            <a:srgbClr val="D4AF37"/>
          </a:solidFill>
        </p:spPr>
      </p:sp>
      <p:sp>
        <p:nvSpPr>
          <p:cNvPr id="46" name="Text 39"/>
          <p:cNvSpPr/>
          <p:nvPr/>
        </p:nvSpPr>
        <p:spPr>
          <a:xfrm>
            <a:off x="695308" y="6391115"/>
            <a:ext cx="2133695" cy="17144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上海财经大学商学院 · 创业实践课程路演</a:t>
            </a:r>
            <a:endParaRPr lang="en-US" sz="900" dirty="0"/>
          </a:p>
        </p:txBody>
      </p:sp>
      <p:sp>
        <p:nvSpPr>
          <p:cNvPr id="47" name="Text 40"/>
          <p:cNvSpPr/>
          <p:nvPr/>
        </p:nvSpPr>
        <p:spPr>
          <a:xfrm>
            <a:off x="11306934" y="6391115"/>
            <a:ext cx="322800" cy="14287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9999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 / 10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4742" y="9525"/>
            <a:ext cx="2857429" cy="57149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81010" y="390515"/>
            <a:ext cx="0" cy="411351"/>
          </a:xfrm>
          <a:prstGeom prst="line">
            <a:avLst/>
          </a:prstGeom>
          <a:noFill/>
          <a:ln w="57149">
            <a:solidFill>
              <a:srgbClr val="D4AF37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828654" y="400040"/>
            <a:ext cx="2381339" cy="16192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解决方案：三位一体的 AI 赋能体系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828654" y="601846"/>
            <a:ext cx="2305141" cy="16192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构建从创意到成果的数字化工作台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81010" y="1087609"/>
            <a:ext cx="3524162" cy="1535124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7" name="Shape 4"/>
          <p:cNvSpPr/>
          <p:nvPr/>
        </p:nvSpPr>
        <p:spPr>
          <a:xfrm>
            <a:off x="581010" y="1087609"/>
            <a:ext cx="3524162" cy="0"/>
          </a:xfrm>
          <a:prstGeom prst="line">
            <a:avLst/>
          </a:prstGeom>
          <a:noFill/>
          <a:ln w="38099">
            <a:solidFill>
              <a:srgbClr val="00336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33447" y="1392401"/>
            <a:ext cx="1733507" cy="20954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学生端：创意工作台</a:t>
            </a:r>
            <a:endParaRPr lang="en-US" sz="15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605" y="1382876"/>
            <a:ext cx="228594" cy="22859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09605" y="1754342"/>
            <a:ext cx="3066973" cy="6397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提供覆盖全生命周期的创作辅助，从</a:t>
            </a:r>
            <a:r>
              <a:rPr lang="en-US" sz="1050" b="1" dirty="0">
                <a:solidFill>
                  <a:srgbClr val="D4AF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灵感激发、逻辑梳理</a:t>
            </a: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到最终的</a:t>
            </a:r>
            <a:r>
              <a:rPr lang="en-US" sz="1050" b="1" dirty="0">
                <a:solidFill>
                  <a:srgbClr val="D4AF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BP自动生成</a:t>
            </a: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，将碎片化想法转化为标准商业文本。 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4333767" y="1087609"/>
            <a:ext cx="3524162" cy="1535124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2" name="Shape 8"/>
          <p:cNvSpPr/>
          <p:nvPr/>
        </p:nvSpPr>
        <p:spPr>
          <a:xfrm>
            <a:off x="4333767" y="1087609"/>
            <a:ext cx="3524162" cy="0"/>
          </a:xfrm>
          <a:prstGeom prst="line">
            <a:avLst/>
          </a:prstGeom>
          <a:noFill/>
          <a:ln w="38099">
            <a:solidFill>
              <a:srgbClr val="D4AF37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886203" y="1392401"/>
            <a:ext cx="1924002" cy="20954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教师端：审核反馈模块</a:t>
            </a:r>
            <a:endParaRPr lang="en-US" sz="15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2361" y="1382876"/>
            <a:ext cx="228594" cy="22859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562361" y="1754342"/>
            <a:ext cx="3066973" cy="6397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实现学生进度的</a:t>
            </a:r>
            <a:r>
              <a:rPr lang="en-US" sz="1050" b="1" dirty="0">
                <a:solidFill>
                  <a:srgbClr val="D4AF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数字化管理</a:t>
            </a: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。教师可一键查看项目状态，并在关键节点进行</a:t>
            </a:r>
            <a:r>
              <a:rPr lang="en-US" sz="1050" b="1" dirty="0">
                <a:solidFill>
                  <a:srgbClr val="D4AF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实时在线点拨</a:t>
            </a: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，显著降低批量指导的成本。 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8086523" y="1087609"/>
            <a:ext cx="3524162" cy="1535124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7" name="Shape 12"/>
          <p:cNvSpPr/>
          <p:nvPr/>
        </p:nvSpPr>
        <p:spPr>
          <a:xfrm>
            <a:off x="8086523" y="1087609"/>
            <a:ext cx="3524162" cy="0"/>
          </a:xfrm>
          <a:prstGeom prst="line">
            <a:avLst/>
          </a:prstGeom>
          <a:noFill/>
          <a:ln w="38099">
            <a:solidFill>
              <a:srgbClr val="003366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8638959" y="1392401"/>
            <a:ext cx="1543011" cy="20954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知识库与成果沉淀</a:t>
            </a:r>
            <a:endParaRPr lang="en-US" sz="1500" dirty="0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15117" y="1382876"/>
            <a:ext cx="228594" cy="22859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315117" y="1754342"/>
            <a:ext cx="3066973" cy="6397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深度整合</a:t>
            </a:r>
            <a:r>
              <a:rPr lang="en-US" sz="1050" b="1" dirty="0">
                <a:solidFill>
                  <a:srgbClr val="D4AF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商科经典案例库</a:t>
            </a: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，对历届优秀创业项目进行数字化资产归档，形成学院专属的</a:t>
            </a:r>
            <a:r>
              <a:rPr lang="en-US" sz="1050" b="1" dirty="0">
                <a:solidFill>
                  <a:srgbClr val="D4AF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教学闭环与实践资产库</a:t>
            </a: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 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581010" y="2908475"/>
            <a:ext cx="11029674" cy="3132010"/>
          </a:xfrm>
          <a:prstGeom prst="roundRect">
            <a:avLst>
              <a:gd name="adj" fmla="val 2433"/>
            </a:avLst>
          </a:prstGeom>
          <a:solidFill>
            <a:srgbClr val="FFFFFF">
              <a:alpha val="60000"/>
            </a:srgbClr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2" name="Text 16"/>
          <p:cNvSpPr/>
          <p:nvPr/>
        </p:nvSpPr>
        <p:spPr>
          <a:xfrm>
            <a:off x="4356388" y="3179038"/>
            <a:ext cx="3497820" cy="15239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05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系统赋能逻辑架构图 (Architecture Diagram)</a:t>
            </a:r>
            <a:endParaRPr lang="en-US" sz="1050" dirty="0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>
            <a:fillRect/>
          </a:stretch>
        </p:blipFill>
        <p:spPr>
          <a:xfrm>
            <a:off x="1333467" y="3502880"/>
            <a:ext cx="9524762" cy="2285943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581010" y="6419690"/>
            <a:ext cx="114297" cy="114297"/>
          </a:xfrm>
          <a:prstGeom prst="rect">
            <a:avLst/>
          </a:prstGeom>
          <a:solidFill>
            <a:srgbClr val="D4AF37"/>
          </a:solidFill>
        </p:spPr>
      </p:sp>
      <p:sp>
        <p:nvSpPr>
          <p:cNvPr id="25" name="Text 18"/>
          <p:cNvSpPr/>
          <p:nvPr/>
        </p:nvSpPr>
        <p:spPr>
          <a:xfrm>
            <a:off x="695308" y="6391115"/>
            <a:ext cx="2133695" cy="17144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上海财经大学商学院 · 创业实践课程路演</a:t>
            </a:r>
            <a:endParaRPr lang="en-US" sz="900" dirty="0"/>
          </a:p>
        </p:txBody>
      </p:sp>
      <p:sp>
        <p:nvSpPr>
          <p:cNvPr id="26" name="Text 19"/>
          <p:cNvSpPr/>
          <p:nvPr/>
        </p:nvSpPr>
        <p:spPr>
          <a:xfrm>
            <a:off x="11306934" y="6391115"/>
            <a:ext cx="322800" cy="14287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9999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 / 10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790" y="0"/>
            <a:ext cx="3809905" cy="57149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1904952"/>
            <a:ext cx="38099" cy="2857429"/>
          </a:xfrm>
          <a:prstGeom prst="rect">
            <a:avLst/>
          </a:prstGeom>
          <a:solidFill>
            <a:srgbClr val="003366">
              <a:alpha val="30000"/>
            </a:srgbClr>
          </a:solidFill>
        </p:spPr>
      </p:sp>
      <p:sp>
        <p:nvSpPr>
          <p:cNvPr id="4" name="Shape 1"/>
          <p:cNvSpPr/>
          <p:nvPr/>
        </p:nvSpPr>
        <p:spPr>
          <a:xfrm>
            <a:off x="761981" y="571486"/>
            <a:ext cx="0" cy="411351"/>
          </a:xfrm>
          <a:prstGeom prst="line">
            <a:avLst/>
          </a:prstGeom>
          <a:noFill/>
          <a:ln w="57149">
            <a:solidFill>
              <a:srgbClr val="D4AF3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47724" y="581010"/>
            <a:ext cx="2457537" cy="16192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核心功能：全生命周期的数智化支持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047724" y="782816"/>
            <a:ext cx="1695556" cy="16192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B55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从灵感到表达的深度重塑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761981" y="1411451"/>
            <a:ext cx="2904904" cy="2125659"/>
          </a:xfrm>
          <a:prstGeom prst="roundRect">
            <a:avLst>
              <a:gd name="adj" fmla="val 1792"/>
            </a:avLst>
          </a:prstGeom>
          <a:solidFill>
            <a:srgbClr val="FFFFFF"/>
          </a:solidFill>
          <a:ln w="9525">
            <a:solidFill>
              <a:srgbClr val="003366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61981" y="1411451"/>
            <a:ext cx="2885850" cy="28574"/>
          </a:xfrm>
          <a:prstGeom prst="rect">
            <a:avLst/>
          </a:prstGeom>
          <a:solidFill>
            <a:srgbClr val="003366"/>
          </a:solidFill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4397" y="1763867"/>
            <a:ext cx="228594" cy="22859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00100" y="2297254"/>
            <a:ext cx="1162021" cy="20954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头脑风暴整理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1000100" y="2659194"/>
            <a:ext cx="2428665" cy="6397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B55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利用AI语义分析技术，将学生</a:t>
            </a:r>
            <a:r>
              <a:rPr lang="en-US" sz="1050" b="1" dirty="0">
                <a:solidFill>
                  <a:srgbClr val="D4AF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零散的初步想法</a:t>
            </a:r>
            <a:r>
              <a:rPr lang="en-US" sz="1050" dirty="0">
                <a:solidFill>
                  <a:srgbClr val="4B55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进行逻辑聚类，自动转化为结构化的产品定位说明。 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3857380" y="1411451"/>
            <a:ext cx="2905052" cy="2125659"/>
          </a:xfrm>
          <a:prstGeom prst="roundRect">
            <a:avLst>
              <a:gd name="adj" fmla="val 1792"/>
            </a:avLst>
          </a:prstGeom>
          <a:solidFill>
            <a:srgbClr val="FFFFFF"/>
          </a:solidFill>
          <a:ln w="9525">
            <a:solidFill>
              <a:srgbClr val="003366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3857380" y="1411451"/>
            <a:ext cx="2886003" cy="28574"/>
          </a:xfrm>
          <a:prstGeom prst="rect">
            <a:avLst/>
          </a:prstGeom>
          <a:solidFill>
            <a:srgbClr val="003366"/>
          </a:solidFill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9796" y="1763867"/>
            <a:ext cx="228594" cy="22859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095499" y="2297254"/>
            <a:ext cx="1225718" cy="20954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BP与PPT生成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4095499" y="2659194"/>
            <a:ext cx="2428814" cy="6397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B55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深度结合商学院审美标准，支持</a:t>
            </a:r>
            <a:r>
              <a:rPr lang="en-US" sz="1050" b="1" dirty="0">
                <a:solidFill>
                  <a:srgbClr val="D4AF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一键转化商业计划书</a:t>
            </a:r>
            <a:r>
              <a:rPr lang="en-US" sz="1050" dirty="0">
                <a:solidFill>
                  <a:srgbClr val="4B55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，自动生成具备专业排版与严谨逻辑的路演演示文稿。 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761981" y="3727605"/>
            <a:ext cx="2904904" cy="2125659"/>
          </a:xfrm>
          <a:prstGeom prst="roundRect">
            <a:avLst>
              <a:gd name="adj" fmla="val 1792"/>
            </a:avLst>
          </a:prstGeom>
          <a:solidFill>
            <a:srgbClr val="FFFFFF"/>
          </a:solidFill>
          <a:ln w="9525">
            <a:solidFill>
              <a:srgbClr val="003366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761981" y="3727605"/>
            <a:ext cx="2885850" cy="28574"/>
          </a:xfrm>
          <a:prstGeom prst="rect">
            <a:avLst/>
          </a:prstGeom>
          <a:solidFill>
            <a:srgbClr val="003366"/>
          </a:solidFill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4397" y="4080021"/>
            <a:ext cx="228594" cy="22859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000100" y="4613408"/>
            <a:ext cx="1162021" cy="20954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答辩模拟训练</a:t>
            </a:r>
            <a:endParaRPr lang="en-US" sz="1500" dirty="0"/>
          </a:p>
        </p:txBody>
      </p:sp>
      <p:sp>
        <p:nvSpPr>
          <p:cNvPr id="21" name="Text 15"/>
          <p:cNvSpPr/>
          <p:nvPr/>
        </p:nvSpPr>
        <p:spPr>
          <a:xfrm>
            <a:off x="1000100" y="4975349"/>
            <a:ext cx="2428665" cy="6397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B55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基于大语言模型</a:t>
            </a:r>
            <a:r>
              <a:rPr lang="en-US" sz="1050" b="1" dirty="0">
                <a:solidFill>
                  <a:srgbClr val="D4AF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模拟评审专家提问</a:t>
            </a:r>
            <a:r>
              <a:rPr lang="en-US" sz="1050" dirty="0">
                <a:solidFill>
                  <a:srgbClr val="4B55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，在语音对话中提升学生的现场表达能力与突发状况的临场应变。 </a:t>
            </a:r>
            <a:endParaRPr lang="en-US" sz="1050" dirty="0"/>
          </a:p>
        </p:txBody>
      </p:sp>
      <p:sp>
        <p:nvSpPr>
          <p:cNvPr id="22" name="Shape 16"/>
          <p:cNvSpPr/>
          <p:nvPr/>
        </p:nvSpPr>
        <p:spPr>
          <a:xfrm>
            <a:off x="3857380" y="3727605"/>
            <a:ext cx="2905052" cy="2125659"/>
          </a:xfrm>
          <a:prstGeom prst="roundRect">
            <a:avLst>
              <a:gd name="adj" fmla="val 1792"/>
            </a:avLst>
          </a:prstGeom>
          <a:solidFill>
            <a:srgbClr val="FFFFFF"/>
          </a:solidFill>
          <a:ln w="9525">
            <a:solidFill>
              <a:srgbClr val="003366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3857380" y="3727605"/>
            <a:ext cx="2886003" cy="28574"/>
          </a:xfrm>
          <a:prstGeom prst="rect">
            <a:avLst/>
          </a:prstGeom>
          <a:solidFill>
            <a:srgbClr val="003366"/>
          </a:solidFill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09796" y="4080021"/>
            <a:ext cx="228594" cy="228594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4095499" y="4613408"/>
            <a:ext cx="1352516" cy="20954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多媒体物料生成</a:t>
            </a:r>
            <a:endParaRPr lang="en-US" sz="1500" dirty="0"/>
          </a:p>
        </p:txBody>
      </p:sp>
      <p:sp>
        <p:nvSpPr>
          <p:cNvPr id="26" name="Text 19"/>
          <p:cNvSpPr/>
          <p:nvPr/>
        </p:nvSpPr>
        <p:spPr>
          <a:xfrm>
            <a:off x="4095499" y="4975349"/>
            <a:ext cx="2428814" cy="6397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B55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一站式提供初步的</a:t>
            </a:r>
            <a:r>
              <a:rPr lang="en-US" sz="1050" b="1" dirty="0">
                <a:solidFill>
                  <a:srgbClr val="D4AF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品牌设计建议</a:t>
            </a:r>
            <a:r>
              <a:rPr lang="en-US" sz="1050" dirty="0">
                <a:solidFill>
                  <a:srgbClr val="4B55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及社交媒体传播素材，支持创业项目从“纸面计划”向“市场宣发”跨越。 </a:t>
            </a:r>
            <a:endParaRPr lang="en-US" sz="1050" dirty="0"/>
          </a:p>
        </p:txBody>
      </p:sp>
      <p:sp>
        <p:nvSpPr>
          <p:cNvPr id="27" name="Shape 20"/>
          <p:cNvSpPr/>
          <p:nvPr/>
        </p:nvSpPr>
        <p:spPr>
          <a:xfrm>
            <a:off x="7143423" y="1411451"/>
            <a:ext cx="4286292" cy="2666933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EEEEEE"/>
            </a:solidFill>
            <a:prstDash val="solid"/>
          </a:ln>
        </p:spPr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7152947" y="1420975"/>
            <a:ext cx="4267242" cy="2647884"/>
          </a:xfrm>
          <a:prstGeom prst="rect">
            <a:avLst/>
          </a:prstGeom>
        </p:spPr>
      </p:pic>
      <p:sp>
        <p:nvSpPr>
          <p:cNvPr id="29" name="Shape 21"/>
          <p:cNvSpPr/>
          <p:nvPr/>
        </p:nvSpPr>
        <p:spPr>
          <a:xfrm>
            <a:off x="7143423" y="4306978"/>
            <a:ext cx="4286292" cy="1319180"/>
          </a:xfrm>
          <a:prstGeom prst="roundRect">
            <a:avLst>
              <a:gd name="adj" fmla="val 2888"/>
            </a:avLst>
          </a:prstGeom>
          <a:solidFill>
            <a:srgbClr val="003366"/>
          </a:solidFill>
        </p:spPr>
      </p:sp>
      <p:sp>
        <p:nvSpPr>
          <p:cNvPr id="30" name="Shape 22"/>
          <p:cNvSpPr/>
          <p:nvPr/>
        </p:nvSpPr>
        <p:spPr>
          <a:xfrm>
            <a:off x="11048727" y="5626158"/>
            <a:ext cx="190495" cy="0"/>
          </a:xfrm>
          <a:prstGeom prst="line">
            <a:avLst/>
          </a:prstGeom>
          <a:noFill/>
          <a:ln w="95248">
            <a:solidFill>
              <a:srgbClr val="003366"/>
            </a:solidFill>
            <a:prstDash val="solid"/>
          </a:ln>
        </p:spPr>
      </p:sp>
      <p:sp>
        <p:nvSpPr>
          <p:cNvPr id="31" name="Text 23"/>
          <p:cNvSpPr/>
          <p:nvPr/>
        </p:nvSpPr>
        <p:spPr>
          <a:xfrm>
            <a:off x="7619661" y="4564147"/>
            <a:ext cx="1085972" cy="16192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D4AF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数智化教学价值</a:t>
            </a:r>
            <a:endParaRPr lang="en-US" sz="1200" dirty="0"/>
          </a:p>
        </p:txBody>
      </p:sp>
      <p:pic>
        <p:nvPicPr>
          <p:cNvPr id="32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72017" y="4564147"/>
            <a:ext cx="171446" cy="171446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7372017" y="4859414"/>
            <a:ext cx="3829103" cy="51433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通过AI技术在商科实践中的深度应用，我们将传统的单点指导升级为“24/7全时段伴随”模式，确保每一个创意都能获得从0到1的标准化数字支撑，大幅降低创业门槛。</a:t>
            </a:r>
            <a:endParaRPr lang="en-US" sz="975" dirty="0"/>
          </a:p>
        </p:txBody>
      </p:sp>
      <p:sp>
        <p:nvSpPr>
          <p:cNvPr id="34" name="Shape 25"/>
          <p:cNvSpPr/>
          <p:nvPr/>
        </p:nvSpPr>
        <p:spPr>
          <a:xfrm>
            <a:off x="761981" y="6076798"/>
            <a:ext cx="10667733" cy="0"/>
          </a:xfrm>
          <a:prstGeom prst="line">
            <a:avLst/>
          </a:prstGeom>
          <a:noFill/>
          <a:ln w="9525">
            <a:solidFill>
              <a:srgbClr val="EEEEEE"/>
            </a:solidFill>
            <a:prstDash val="solid"/>
          </a:ln>
        </p:spPr>
      </p:sp>
      <p:sp>
        <p:nvSpPr>
          <p:cNvPr id="35" name="Text 26"/>
          <p:cNvSpPr/>
          <p:nvPr/>
        </p:nvSpPr>
        <p:spPr>
          <a:xfrm>
            <a:off x="971526" y="6310155"/>
            <a:ext cx="5169118" cy="13334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75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SHANGHAI UNIVERSITY OF FINANCE AND ECONOMICS · COLLEGE OF BUSINESS</a:t>
            </a:r>
            <a:endParaRPr lang="en-US" sz="900" dirty="0"/>
          </a:p>
        </p:txBody>
      </p:sp>
      <p:sp>
        <p:nvSpPr>
          <p:cNvPr id="36" name="Shape 27"/>
          <p:cNvSpPr/>
          <p:nvPr/>
        </p:nvSpPr>
        <p:spPr>
          <a:xfrm>
            <a:off x="761981" y="6319680"/>
            <a:ext cx="114297" cy="114297"/>
          </a:xfrm>
          <a:prstGeom prst="rect">
            <a:avLst/>
          </a:prstGeom>
          <a:solidFill>
            <a:srgbClr val="D4AF37"/>
          </a:solidFill>
        </p:spPr>
      </p:sp>
      <p:sp>
        <p:nvSpPr>
          <p:cNvPr id="37" name="Text 28"/>
          <p:cNvSpPr/>
          <p:nvPr/>
        </p:nvSpPr>
        <p:spPr>
          <a:xfrm>
            <a:off x="11125964" y="6305392"/>
            <a:ext cx="322800" cy="14287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9999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 / 10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4742" y="9525"/>
            <a:ext cx="2857429" cy="7619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525" y="1438239"/>
            <a:ext cx="38099" cy="3809905"/>
          </a:xfrm>
          <a:prstGeom prst="rect">
            <a:avLst/>
          </a:prstGeom>
          <a:solidFill>
            <a:srgbClr val="003366"/>
          </a:solidFill>
        </p:spPr>
      </p:sp>
      <p:sp>
        <p:nvSpPr>
          <p:cNvPr id="4" name="Shape 1"/>
          <p:cNvSpPr/>
          <p:nvPr/>
        </p:nvSpPr>
        <p:spPr>
          <a:xfrm>
            <a:off x="581010" y="466713"/>
            <a:ext cx="0" cy="411351"/>
          </a:xfrm>
          <a:prstGeom prst="line">
            <a:avLst/>
          </a:prstGeom>
          <a:noFill/>
          <a:ln w="57149">
            <a:solidFill>
              <a:srgbClr val="D4AF3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28654" y="476238"/>
            <a:ext cx="2408723" cy="16192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kern="0" spc="-24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教学闭环流程：过程可见，反馈可循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828654" y="678044"/>
            <a:ext cx="1492113" cy="16192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重构“教-学-练-评”闭环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81010" y="1259054"/>
            <a:ext cx="11029674" cy="2160782"/>
          </a:xfrm>
          <a:prstGeom prst="roundRect">
            <a:avLst>
              <a:gd name="adj" fmla="val 3526"/>
            </a:avLst>
          </a:prstGeom>
          <a:solidFill>
            <a:srgbClr val="FFFFFF"/>
          </a:solidFill>
          <a:ln w="9525">
            <a:solidFill>
              <a:srgbClr val="F0F0F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286394" y="1459074"/>
            <a:ext cx="933575" cy="266693"/>
          </a:xfrm>
          <a:prstGeom prst="roundRect">
            <a:avLst>
              <a:gd name="adj" fmla="val 50000"/>
            </a:avLst>
          </a:prstGeom>
          <a:solidFill>
            <a:srgbClr val="D4AF37">
              <a:alpha val="10000"/>
            </a:srgbClr>
          </a:solidFill>
          <a:ln w="9525">
            <a:solidFill>
              <a:srgbClr val="D4AF37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286394" y="1459074"/>
            <a:ext cx="933575" cy="266693"/>
          </a:xfrm>
          <a:prstGeom prst="roundRect">
            <a:avLst>
              <a:gd name="adj" fmla="val 50000"/>
            </a:avLst>
          </a:prstGeom>
          <a:solidFill>
            <a:srgbClr val="D4AF37">
              <a:alpha val="10000"/>
            </a:srgbClr>
          </a:solidFill>
          <a:ln w="9525">
            <a:solidFill>
              <a:srgbClr val="D4AF3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86394" y="1459074"/>
            <a:ext cx="933575" cy="266693"/>
          </a:xfrm>
          <a:prstGeom prst="rect">
            <a:avLst/>
          </a:prstGeom>
          <a:noFill/>
        </p:spPr>
        <p:txBody>
          <a:bodyPr wrap="square" lIns="102867" tIns="38099" rIns="102867" bIns="38099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D4AF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迭代循环模式</a:t>
            </a:r>
            <a:endParaRPr lang="en-US" sz="9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33467" y="1482142"/>
            <a:ext cx="9524762" cy="1714457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81010" y="3705579"/>
            <a:ext cx="2091578" cy="164198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3" name="Shape 9"/>
          <p:cNvSpPr/>
          <p:nvPr/>
        </p:nvSpPr>
        <p:spPr>
          <a:xfrm>
            <a:off x="581010" y="3705579"/>
            <a:ext cx="2091578" cy="0"/>
          </a:xfrm>
          <a:prstGeom prst="line">
            <a:avLst/>
          </a:prstGeom>
          <a:noFill/>
          <a:ln w="38099">
            <a:solidFill>
              <a:srgbClr val="003366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723882" y="3953223"/>
            <a:ext cx="209545" cy="20954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336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01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990575" y="3991322"/>
            <a:ext cx="355690" cy="13334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INPUT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723882" y="4305639"/>
            <a:ext cx="628783" cy="16192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创意输入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723882" y="4581857"/>
            <a:ext cx="1805835" cy="59425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学生录入初步想法或市场洞察，支持</a:t>
            </a:r>
            <a:r>
              <a:rPr lang="en-US" sz="975" b="1" dirty="0">
                <a:solidFill>
                  <a:srgbClr val="D4AF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碎片化灵感</a:t>
            </a:r>
            <a:r>
              <a:rPr lang="en-US" sz="975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采集，建立项目原点。</a:t>
            </a:r>
            <a:endParaRPr lang="en-US" sz="975" dirty="0"/>
          </a:p>
        </p:txBody>
      </p:sp>
      <p:sp>
        <p:nvSpPr>
          <p:cNvPr id="18" name="Shape 14"/>
          <p:cNvSpPr/>
          <p:nvPr/>
        </p:nvSpPr>
        <p:spPr>
          <a:xfrm>
            <a:off x="2815460" y="3705579"/>
            <a:ext cx="2091578" cy="164198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9" name="Shape 15"/>
          <p:cNvSpPr/>
          <p:nvPr/>
        </p:nvSpPr>
        <p:spPr>
          <a:xfrm>
            <a:off x="2815460" y="3705579"/>
            <a:ext cx="2091578" cy="0"/>
          </a:xfrm>
          <a:prstGeom prst="line">
            <a:avLst/>
          </a:prstGeom>
          <a:noFill/>
          <a:ln w="38099">
            <a:solidFill>
              <a:srgbClr val="003366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2958332" y="3953223"/>
            <a:ext cx="209545" cy="20954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336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02</a:t>
            </a:r>
            <a:endParaRPr lang="en-US" sz="1500" dirty="0"/>
          </a:p>
        </p:txBody>
      </p:sp>
      <p:sp>
        <p:nvSpPr>
          <p:cNvPr id="21" name="Text 17"/>
          <p:cNvSpPr/>
          <p:nvPr/>
        </p:nvSpPr>
        <p:spPr>
          <a:xfrm>
            <a:off x="3225025" y="3991322"/>
            <a:ext cx="514635" cy="13334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PROCESS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2958332" y="4305639"/>
            <a:ext cx="518653" cy="16192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 生成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2958332" y="4581857"/>
            <a:ext cx="1805835" cy="59425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系统辅助生成阶段性成果（BP/PPT），完成从</a:t>
            </a:r>
            <a:r>
              <a:rPr lang="en-US" sz="975" b="1" dirty="0">
                <a:solidFill>
                  <a:srgbClr val="D4AF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0到1</a:t>
            </a:r>
            <a:r>
              <a:rPr lang="en-US" sz="975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的结构化搭建。</a:t>
            </a:r>
            <a:endParaRPr lang="en-US" sz="975" dirty="0"/>
          </a:p>
        </p:txBody>
      </p:sp>
      <p:sp>
        <p:nvSpPr>
          <p:cNvPr id="24" name="Shape 20"/>
          <p:cNvSpPr/>
          <p:nvPr/>
        </p:nvSpPr>
        <p:spPr>
          <a:xfrm>
            <a:off x="5049910" y="3705579"/>
            <a:ext cx="2091727" cy="164198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5" name="Shape 21"/>
          <p:cNvSpPr/>
          <p:nvPr/>
        </p:nvSpPr>
        <p:spPr>
          <a:xfrm>
            <a:off x="5049910" y="3705579"/>
            <a:ext cx="2091727" cy="0"/>
          </a:xfrm>
          <a:prstGeom prst="line">
            <a:avLst/>
          </a:prstGeom>
          <a:noFill/>
          <a:ln w="38099">
            <a:solidFill>
              <a:srgbClr val="D4AF37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5192781" y="3953223"/>
            <a:ext cx="209545" cy="20954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336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03</a:t>
            </a:r>
            <a:endParaRPr lang="en-US" sz="1500" dirty="0"/>
          </a:p>
        </p:txBody>
      </p:sp>
      <p:sp>
        <p:nvSpPr>
          <p:cNvPr id="27" name="Text 23"/>
          <p:cNvSpPr/>
          <p:nvPr/>
        </p:nvSpPr>
        <p:spPr>
          <a:xfrm>
            <a:off x="5459474" y="3991322"/>
            <a:ext cx="463439" cy="13334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REVIEW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5192781" y="4305639"/>
            <a:ext cx="628783" cy="16192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教师审核</a:t>
            </a:r>
            <a:endParaRPr lang="en-US" sz="1200" dirty="0"/>
          </a:p>
        </p:txBody>
      </p:sp>
      <p:sp>
        <p:nvSpPr>
          <p:cNvPr id="29" name="Text 25"/>
          <p:cNvSpPr/>
          <p:nvPr/>
        </p:nvSpPr>
        <p:spPr>
          <a:xfrm>
            <a:off x="5192781" y="4581857"/>
            <a:ext cx="1805984" cy="39617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教师在线查阅并给出</a:t>
            </a:r>
            <a:r>
              <a:rPr lang="en-US" sz="975" b="1" dirty="0">
                <a:solidFill>
                  <a:srgbClr val="D4AF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一键反馈</a:t>
            </a:r>
            <a:r>
              <a:rPr lang="en-US" sz="975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或详细建议，实现数字化批改。</a:t>
            </a:r>
            <a:endParaRPr lang="en-US" sz="975" dirty="0"/>
          </a:p>
        </p:txBody>
      </p:sp>
      <p:sp>
        <p:nvSpPr>
          <p:cNvPr id="30" name="Shape 26"/>
          <p:cNvSpPr/>
          <p:nvPr/>
        </p:nvSpPr>
        <p:spPr>
          <a:xfrm>
            <a:off x="7284508" y="3705579"/>
            <a:ext cx="2091578" cy="164198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1" name="Shape 27"/>
          <p:cNvSpPr/>
          <p:nvPr/>
        </p:nvSpPr>
        <p:spPr>
          <a:xfrm>
            <a:off x="7284508" y="3705579"/>
            <a:ext cx="2091578" cy="0"/>
          </a:xfrm>
          <a:prstGeom prst="line">
            <a:avLst/>
          </a:prstGeom>
          <a:noFill/>
          <a:ln w="38099">
            <a:solidFill>
              <a:srgbClr val="003366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7427380" y="3953223"/>
            <a:ext cx="209545" cy="20954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336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04</a:t>
            </a:r>
            <a:endParaRPr lang="en-US" sz="1500" dirty="0"/>
          </a:p>
        </p:txBody>
      </p:sp>
      <p:sp>
        <p:nvSpPr>
          <p:cNvPr id="33" name="Text 29"/>
          <p:cNvSpPr/>
          <p:nvPr/>
        </p:nvSpPr>
        <p:spPr>
          <a:xfrm>
            <a:off x="7694073" y="3991322"/>
            <a:ext cx="482489" cy="13334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ITERATE</a:t>
            </a:r>
            <a:endParaRPr lang="en-US" sz="900" dirty="0"/>
          </a:p>
        </p:txBody>
      </p:sp>
      <p:sp>
        <p:nvSpPr>
          <p:cNvPr id="34" name="Text 30"/>
          <p:cNvSpPr/>
          <p:nvPr/>
        </p:nvSpPr>
        <p:spPr>
          <a:xfrm>
            <a:off x="7427380" y="4305639"/>
            <a:ext cx="628783" cy="16192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退回修改</a:t>
            </a:r>
            <a:endParaRPr lang="en-US" sz="1200" dirty="0"/>
          </a:p>
        </p:txBody>
      </p:sp>
      <p:sp>
        <p:nvSpPr>
          <p:cNvPr id="35" name="Text 31"/>
          <p:cNvSpPr/>
          <p:nvPr/>
        </p:nvSpPr>
        <p:spPr>
          <a:xfrm>
            <a:off x="7427380" y="4581857"/>
            <a:ext cx="1805835" cy="59425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学生根据 AI 与教师双重建议进行</a:t>
            </a:r>
            <a:r>
              <a:rPr lang="en-US" sz="975" b="1" dirty="0">
                <a:solidFill>
                  <a:srgbClr val="D4AF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迭代优化</a:t>
            </a:r>
            <a:r>
              <a:rPr lang="en-US" sz="975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，在实践中提升逻辑力。</a:t>
            </a:r>
            <a:endParaRPr lang="en-US" sz="975" dirty="0"/>
          </a:p>
        </p:txBody>
      </p:sp>
      <p:sp>
        <p:nvSpPr>
          <p:cNvPr id="36" name="Shape 32"/>
          <p:cNvSpPr/>
          <p:nvPr/>
        </p:nvSpPr>
        <p:spPr>
          <a:xfrm>
            <a:off x="9518958" y="3705579"/>
            <a:ext cx="2091727" cy="164198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7" name="Shape 33"/>
          <p:cNvSpPr/>
          <p:nvPr/>
        </p:nvSpPr>
        <p:spPr>
          <a:xfrm>
            <a:off x="9518958" y="3705579"/>
            <a:ext cx="2091727" cy="0"/>
          </a:xfrm>
          <a:prstGeom prst="line">
            <a:avLst/>
          </a:prstGeom>
          <a:noFill/>
          <a:ln w="38099">
            <a:solidFill>
              <a:srgbClr val="003366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9661829" y="3953223"/>
            <a:ext cx="209545" cy="20954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336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05</a:t>
            </a:r>
            <a:endParaRPr lang="en-US" sz="1500" dirty="0"/>
          </a:p>
        </p:txBody>
      </p:sp>
      <p:sp>
        <p:nvSpPr>
          <p:cNvPr id="39" name="Text 35"/>
          <p:cNvSpPr/>
          <p:nvPr/>
        </p:nvSpPr>
        <p:spPr>
          <a:xfrm>
            <a:off x="9928522" y="3991322"/>
            <a:ext cx="469987" cy="13334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OUTPUT</a:t>
            </a:r>
            <a:endParaRPr lang="en-US" sz="900" dirty="0"/>
          </a:p>
        </p:txBody>
      </p:sp>
      <p:sp>
        <p:nvSpPr>
          <p:cNvPr id="40" name="Text 36"/>
          <p:cNvSpPr/>
          <p:nvPr/>
        </p:nvSpPr>
        <p:spPr>
          <a:xfrm>
            <a:off x="9661829" y="4305639"/>
            <a:ext cx="628783" cy="16192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成果沉淀</a:t>
            </a:r>
            <a:endParaRPr lang="en-US" sz="1200" dirty="0"/>
          </a:p>
        </p:txBody>
      </p:sp>
      <p:sp>
        <p:nvSpPr>
          <p:cNvPr id="41" name="Text 37"/>
          <p:cNvSpPr/>
          <p:nvPr/>
        </p:nvSpPr>
        <p:spPr>
          <a:xfrm>
            <a:off x="9661829" y="4581857"/>
            <a:ext cx="1805984" cy="59425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优秀作品自动入选</a:t>
            </a:r>
            <a:r>
              <a:rPr lang="en-US" sz="975" b="1" dirty="0">
                <a:solidFill>
                  <a:srgbClr val="D4AF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学院年度创业项目库</a:t>
            </a:r>
            <a:r>
              <a:rPr lang="en-US" sz="975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，实现教学资产的长期价值。</a:t>
            </a:r>
            <a:endParaRPr lang="en-US" sz="975" dirty="0"/>
          </a:p>
        </p:txBody>
      </p:sp>
      <p:sp>
        <p:nvSpPr>
          <p:cNvPr id="42" name="Shape 38"/>
          <p:cNvSpPr/>
          <p:nvPr/>
        </p:nvSpPr>
        <p:spPr>
          <a:xfrm>
            <a:off x="581010" y="5690450"/>
            <a:ext cx="11029674" cy="521481"/>
          </a:xfrm>
          <a:prstGeom prst="rect">
            <a:avLst/>
          </a:prstGeom>
          <a:solidFill>
            <a:srgbClr val="F9FAFB"/>
          </a:solidFill>
        </p:spPr>
      </p:sp>
      <p:sp>
        <p:nvSpPr>
          <p:cNvPr id="43" name="Shape 39"/>
          <p:cNvSpPr/>
          <p:nvPr/>
        </p:nvSpPr>
        <p:spPr>
          <a:xfrm>
            <a:off x="581010" y="5690450"/>
            <a:ext cx="0" cy="521481"/>
          </a:xfrm>
          <a:prstGeom prst="line">
            <a:avLst/>
          </a:prstGeom>
          <a:noFill/>
          <a:ln w="38099">
            <a:solidFill>
              <a:srgbClr val="003366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581010" y="5690450"/>
            <a:ext cx="11029674" cy="521481"/>
          </a:xfrm>
          <a:prstGeom prst="rect">
            <a:avLst/>
          </a:prstGeom>
          <a:noFill/>
        </p:spPr>
        <p:txBody>
          <a:bodyPr wrap="square" lIns="137157" tIns="152396" rIns="137157" bIns="152396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核心优势：</a:t>
            </a:r>
            <a:r>
              <a:rPr lang="en-US" sz="105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该流程将传统的“黑盒式”课后作业转变为</a:t>
            </a:r>
            <a:r>
              <a:rPr lang="en-US" sz="105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“全程可见、实时反馈、可溯源、可沉淀”</a:t>
            </a:r>
            <a:r>
              <a:rPr lang="en-US" sz="105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的数字化教学闭环，大幅度降低教师沟通成本。 </a:t>
            </a:r>
            <a:endParaRPr lang="en-US" sz="1050" dirty="0"/>
          </a:p>
        </p:txBody>
      </p:sp>
      <p:sp>
        <p:nvSpPr>
          <p:cNvPr id="45" name="Shape 41"/>
          <p:cNvSpPr/>
          <p:nvPr/>
        </p:nvSpPr>
        <p:spPr>
          <a:xfrm>
            <a:off x="581010" y="6419690"/>
            <a:ext cx="114297" cy="114297"/>
          </a:xfrm>
          <a:prstGeom prst="rect">
            <a:avLst/>
          </a:prstGeom>
          <a:solidFill>
            <a:srgbClr val="D4AF37"/>
          </a:solidFill>
        </p:spPr>
      </p:sp>
      <p:sp>
        <p:nvSpPr>
          <p:cNvPr id="46" name="Text 42"/>
          <p:cNvSpPr/>
          <p:nvPr/>
        </p:nvSpPr>
        <p:spPr>
          <a:xfrm>
            <a:off x="695308" y="6391115"/>
            <a:ext cx="2133695" cy="17144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上海财经大学商学院 · 创业实践课程路演</a:t>
            </a:r>
            <a:endParaRPr lang="en-US" sz="900" dirty="0"/>
          </a:p>
        </p:txBody>
      </p:sp>
      <p:sp>
        <p:nvSpPr>
          <p:cNvPr id="47" name="Text 43"/>
          <p:cNvSpPr/>
          <p:nvPr/>
        </p:nvSpPr>
        <p:spPr>
          <a:xfrm>
            <a:off x="11306934" y="6391115"/>
            <a:ext cx="322800" cy="14287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9999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6 / 10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48504" y="9525"/>
            <a:ext cx="3333667" cy="7619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525" y="1723982"/>
            <a:ext cx="38099" cy="3333667"/>
          </a:xfrm>
          <a:prstGeom prst="rect">
            <a:avLst/>
          </a:prstGeom>
          <a:solidFill>
            <a:srgbClr val="003366"/>
          </a:solidFill>
        </p:spPr>
      </p:sp>
      <p:sp>
        <p:nvSpPr>
          <p:cNvPr id="4" name="Shape 1"/>
          <p:cNvSpPr/>
          <p:nvPr/>
        </p:nvSpPr>
        <p:spPr>
          <a:xfrm>
            <a:off x="581010" y="466713"/>
            <a:ext cx="0" cy="411351"/>
          </a:xfrm>
          <a:prstGeom prst="line">
            <a:avLst/>
          </a:prstGeom>
          <a:noFill/>
          <a:ln w="57149">
            <a:solidFill>
              <a:srgbClr val="D4AF3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28654" y="476238"/>
            <a:ext cx="2110032" cy="16192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kern="0" spc="-24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商业模式：根植高校，服务生态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828654" y="678044"/>
            <a:ext cx="2000349" cy="16192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多维度的价值创造与变现路径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81010" y="1211431"/>
            <a:ext cx="2614547" cy="1839916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8" name="Shape 5"/>
          <p:cNvSpPr/>
          <p:nvPr/>
        </p:nvSpPr>
        <p:spPr>
          <a:xfrm>
            <a:off x="581010" y="1211431"/>
            <a:ext cx="2614547" cy="0"/>
          </a:xfrm>
          <a:prstGeom prst="line">
            <a:avLst/>
          </a:prstGeom>
          <a:noFill/>
          <a:ln w="38099">
            <a:solidFill>
              <a:srgbClr val="00336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195558" y="1211431"/>
            <a:ext cx="0" cy="1839916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81010" y="3051347"/>
            <a:ext cx="2614547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81010" y="1211431"/>
            <a:ext cx="0" cy="1839916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19130" y="1497174"/>
            <a:ext cx="700814" cy="15239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i="1" dirty="0">
                <a:solidFill>
                  <a:srgbClr val="D4AF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 / B-End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819130" y="1849590"/>
            <a:ext cx="876278" cy="19049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学院端订阅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819130" y="2202006"/>
            <a:ext cx="2138309" cy="57892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作为商学院创业实践课的标准教学工具，按年订阅，实现数字化教学管理。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3386053" y="1211431"/>
            <a:ext cx="2614547" cy="1839916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6" name="Shape 13"/>
          <p:cNvSpPr/>
          <p:nvPr/>
        </p:nvSpPr>
        <p:spPr>
          <a:xfrm>
            <a:off x="3386053" y="1211431"/>
            <a:ext cx="2614547" cy="0"/>
          </a:xfrm>
          <a:prstGeom prst="line">
            <a:avLst/>
          </a:prstGeom>
          <a:noFill/>
          <a:ln w="38099">
            <a:solidFill>
              <a:srgbClr val="00336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000600" y="1211431"/>
            <a:ext cx="0" cy="1839916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386053" y="3051347"/>
            <a:ext cx="2614547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386053" y="1211431"/>
            <a:ext cx="0" cy="1839916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624172" y="1497174"/>
            <a:ext cx="1377370" cy="15239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i="1" dirty="0">
                <a:solidFill>
                  <a:srgbClr val="D4AF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 / Customization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3624172" y="1849590"/>
            <a:ext cx="876278" cy="19049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行业训练包</a:t>
            </a:r>
            <a:endParaRPr lang="en-US" sz="1350" dirty="0"/>
          </a:p>
        </p:txBody>
      </p:sp>
      <p:sp>
        <p:nvSpPr>
          <p:cNvPr id="22" name="Text 19"/>
          <p:cNvSpPr/>
          <p:nvPr/>
        </p:nvSpPr>
        <p:spPr>
          <a:xfrm>
            <a:off x="3624172" y="2202006"/>
            <a:ext cx="2138309" cy="57892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定制化提供金融、零售、科技等垂直行业的创业案例库，满足专业化需求。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6191095" y="1211431"/>
            <a:ext cx="2614547" cy="1839916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4" name="Shape 21"/>
          <p:cNvSpPr/>
          <p:nvPr/>
        </p:nvSpPr>
        <p:spPr>
          <a:xfrm>
            <a:off x="6191095" y="1211431"/>
            <a:ext cx="2614547" cy="0"/>
          </a:xfrm>
          <a:prstGeom prst="line">
            <a:avLst/>
          </a:prstGeom>
          <a:noFill/>
          <a:ln w="38099">
            <a:solidFill>
              <a:srgbClr val="003366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8805642" y="1211431"/>
            <a:ext cx="0" cy="1839916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191095" y="3051347"/>
            <a:ext cx="2614547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191095" y="1211431"/>
            <a:ext cx="0" cy="1839916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429214" y="1497174"/>
            <a:ext cx="1093562" cy="15239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i="1" dirty="0">
                <a:solidFill>
                  <a:srgbClr val="D4AF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 / C-End Plus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6429214" y="1849590"/>
            <a:ext cx="704832" cy="19049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增值服务</a:t>
            </a:r>
            <a:endParaRPr lang="en-US" sz="1350" dirty="0"/>
          </a:p>
        </p:txBody>
      </p:sp>
      <p:sp>
        <p:nvSpPr>
          <p:cNvPr id="30" name="Text 27"/>
          <p:cNvSpPr/>
          <p:nvPr/>
        </p:nvSpPr>
        <p:spPr>
          <a:xfrm>
            <a:off x="6429214" y="2202006"/>
            <a:ext cx="2138309" cy="57892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提供高质量答辩模拟题库及职业导师1对1在线咨询入口，赋能学生个体。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8996138" y="1211431"/>
            <a:ext cx="2614547" cy="1839916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2" name="Shape 29"/>
          <p:cNvSpPr/>
          <p:nvPr/>
        </p:nvSpPr>
        <p:spPr>
          <a:xfrm>
            <a:off x="8996138" y="1211431"/>
            <a:ext cx="2614547" cy="0"/>
          </a:xfrm>
          <a:prstGeom prst="line">
            <a:avLst/>
          </a:prstGeom>
          <a:noFill/>
          <a:ln w="38099">
            <a:solidFill>
              <a:srgbClr val="003366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11610685" y="1211431"/>
            <a:ext cx="0" cy="1839916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8996138" y="3051347"/>
            <a:ext cx="2614547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8996138" y="1211431"/>
            <a:ext cx="0" cy="1839916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9234257" y="1497174"/>
            <a:ext cx="1034330" cy="15239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i="1" dirty="0">
                <a:solidFill>
                  <a:srgbClr val="D4AF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 / Resource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9234257" y="1849590"/>
            <a:ext cx="876278" cy="19049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案例库服务</a:t>
            </a:r>
            <a:endParaRPr lang="en-US" sz="1350" dirty="0"/>
          </a:p>
        </p:txBody>
      </p:sp>
      <p:sp>
        <p:nvSpPr>
          <p:cNvPr id="38" name="Text 35"/>
          <p:cNvSpPr/>
          <p:nvPr/>
        </p:nvSpPr>
        <p:spPr>
          <a:xfrm>
            <a:off x="9234257" y="2202006"/>
            <a:ext cx="2138309" cy="57892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向其他院校或机构授权使用积累的优秀学生创业案例，实现资源价值外溢。</a:t>
            </a:r>
            <a:endParaRPr lang="en-US" sz="1050" dirty="0"/>
          </a:p>
        </p:txBody>
      </p:sp>
      <p:sp>
        <p:nvSpPr>
          <p:cNvPr id="39" name="Shape 36"/>
          <p:cNvSpPr/>
          <p:nvPr/>
        </p:nvSpPr>
        <p:spPr>
          <a:xfrm>
            <a:off x="581010" y="3337090"/>
            <a:ext cx="11029674" cy="2828854"/>
          </a:xfrm>
          <a:prstGeom prst="roundRect">
            <a:avLst>
              <a:gd name="adj" fmla="val 1347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graphicFrame>
        <p:nvGraphicFramePr>
          <p:cNvPr id="40" name="Table 0"/>
          <p:cNvGraphicFramePr>
            <a:graphicFrameLocks noGrp="1"/>
          </p:cNvGraphicFramePr>
          <p:nvPr/>
        </p:nvGraphicFramePr>
        <p:xfrm>
          <a:off x="590535" y="3346614"/>
          <a:ext cx="11010625" cy="2809805"/>
        </p:xfrm>
        <a:graphic>
          <a:graphicData uri="http://schemas.openxmlformats.org/drawingml/2006/table">
            <a:tbl>
              <a:tblPr/>
              <a:tblGrid>
                <a:gridCol w="2752656"/>
                <a:gridCol w="4954662"/>
                <a:gridCol w="3303306"/>
              </a:tblGrid>
              <a:tr h="5333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盈利模式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28594" marR="228594" marT="152396" marB="15239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业务描述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28594" marR="228594" marT="152396" marB="15239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目标客户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28594" marR="228594" marT="152396" marB="15239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3366"/>
                    </a:solidFill>
                  </a:tcPr>
                </a:tc>
              </a:tr>
              <a:tr h="56672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25" b="1" dirty="0">
                          <a:solidFill>
                            <a:srgbClr val="00336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软件订阅</a:t>
                      </a:r>
                      <a:endParaRPr lang="en-US" sz="1125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28594" marR="228594" marT="171446" marB="17144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25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基于 SaaS 架构的平台基础功能授权及年度维护服务</a:t>
                      </a:r>
                      <a:endParaRPr lang="en-US" sz="1125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28594" marR="228594" marT="171446" marB="17144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25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商学院 / 校就业处</a:t>
                      </a:r>
                      <a:endParaRPr lang="en-US" sz="1125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28594" marR="228594" marT="171446" marB="17144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14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25" b="1" dirty="0">
                          <a:solidFill>
                            <a:srgbClr val="00336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定制训练包</a:t>
                      </a:r>
                      <a:endParaRPr lang="en-US" sz="1125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28594" marR="228594" marT="171446" marB="17144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25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针对特定学科背景（如量化金融、新零售）的行业垂直知识库</a:t>
                      </a:r>
                      <a:endParaRPr lang="en-US" sz="1125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28594" marR="228594" marT="171446" marB="17144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25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特色专业学院</a:t>
                      </a:r>
                      <a:endParaRPr lang="en-US" sz="1125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28594" marR="228594" marT="171446" marB="17144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714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25" b="1" dirty="0">
                          <a:solidFill>
                            <a:srgbClr val="00336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案例授权</a:t>
                      </a:r>
                      <a:endParaRPr lang="en-US" sz="1125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28594" marR="228594" marT="171446" marB="17144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25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优秀创业项目 BP、路演视频等教学成果的脱敏资源输出</a:t>
                      </a:r>
                      <a:endParaRPr lang="en-US" sz="1125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28594" marR="228594" marT="171446" marB="17144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25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教育合作机构</a:t>
                      </a:r>
                      <a:endParaRPr lang="en-US" sz="1125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28594" marR="228594" marT="171446" marB="17144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72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25" b="1" dirty="0">
                          <a:solidFill>
                            <a:srgbClr val="00336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增值题库/咨询</a:t>
                      </a:r>
                      <a:endParaRPr lang="en-US" sz="1125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28594" marR="228594" marT="171446" marB="17144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25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进阶版模拟答辩题库及行业专家在线指导咨询通道</a:t>
                      </a:r>
                      <a:endParaRPr lang="en-US" sz="1125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28594" marR="228594" marT="171446" marB="17144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25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学生个人 / 项目组</a:t>
                      </a:r>
                      <a:endParaRPr lang="en-US" sz="1125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28594" marR="228594" marT="171446" marB="17144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41" name="Shape 37"/>
          <p:cNvSpPr/>
          <p:nvPr/>
        </p:nvSpPr>
        <p:spPr>
          <a:xfrm>
            <a:off x="581010" y="6642182"/>
            <a:ext cx="0" cy="215647"/>
          </a:xfrm>
          <a:prstGeom prst="line">
            <a:avLst/>
          </a:prstGeom>
          <a:noFill/>
          <a:ln w="38099">
            <a:solidFill>
              <a:srgbClr val="D4AF37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857229" y="6785053"/>
            <a:ext cx="7189558" cy="7277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💡 商业逻辑：通过 </a:t>
            </a:r>
            <a:r>
              <a:rPr lang="en-US" sz="105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B端规模化切入</a:t>
            </a:r>
            <a:r>
              <a:rPr lang="en-US" sz="105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建立教学标准，通过 </a:t>
            </a:r>
            <a:r>
              <a:rPr lang="en-US" sz="105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垂直案例库</a:t>
            </a:r>
            <a:r>
              <a:rPr lang="en-US" sz="105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构建竞争壁垒，最终形成 </a:t>
            </a:r>
            <a:r>
              <a:rPr lang="en-US" sz="105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校际资源联动</a:t>
            </a:r>
            <a:r>
              <a:rPr lang="en-US" sz="105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的闭环生态。 </a:t>
            </a:r>
            <a:endParaRPr lang="en-US" sz="1050" dirty="0"/>
          </a:p>
        </p:txBody>
      </p:sp>
      <p:sp>
        <p:nvSpPr>
          <p:cNvPr id="43" name="Shape 39"/>
          <p:cNvSpPr/>
          <p:nvPr/>
        </p:nvSpPr>
        <p:spPr>
          <a:xfrm>
            <a:off x="10877278" y="6827915"/>
            <a:ext cx="114297" cy="114297"/>
          </a:xfrm>
          <a:prstGeom prst="ellipse">
            <a:avLst/>
          </a:prstGeom>
          <a:solidFill>
            <a:srgbClr val="003366"/>
          </a:solidFill>
        </p:spPr>
      </p:sp>
      <p:sp>
        <p:nvSpPr>
          <p:cNvPr id="44" name="Shape 40"/>
          <p:cNvSpPr/>
          <p:nvPr/>
        </p:nvSpPr>
        <p:spPr>
          <a:xfrm>
            <a:off x="11067773" y="6827915"/>
            <a:ext cx="114297" cy="114297"/>
          </a:xfrm>
          <a:prstGeom prst="ellipse">
            <a:avLst/>
          </a:prstGeom>
          <a:solidFill>
            <a:srgbClr val="D4AF37"/>
          </a:solidFill>
        </p:spPr>
      </p:sp>
      <p:sp>
        <p:nvSpPr>
          <p:cNvPr id="45" name="Shape 41"/>
          <p:cNvSpPr/>
          <p:nvPr/>
        </p:nvSpPr>
        <p:spPr>
          <a:xfrm>
            <a:off x="11258269" y="6827915"/>
            <a:ext cx="114297" cy="114297"/>
          </a:xfrm>
          <a:prstGeom prst="ellipse">
            <a:avLst/>
          </a:prstGeom>
          <a:solidFill>
            <a:srgbClr val="E5E7EB"/>
          </a:solidFill>
        </p:spPr>
      </p:sp>
      <p:sp>
        <p:nvSpPr>
          <p:cNvPr id="46" name="Shape 42"/>
          <p:cNvSpPr/>
          <p:nvPr/>
        </p:nvSpPr>
        <p:spPr>
          <a:xfrm>
            <a:off x="581010" y="6419690"/>
            <a:ext cx="114297" cy="114297"/>
          </a:xfrm>
          <a:prstGeom prst="rect">
            <a:avLst/>
          </a:prstGeom>
          <a:solidFill>
            <a:srgbClr val="D4AF37"/>
          </a:solidFill>
        </p:spPr>
      </p:sp>
      <p:sp>
        <p:nvSpPr>
          <p:cNvPr id="47" name="Text 43"/>
          <p:cNvSpPr/>
          <p:nvPr/>
        </p:nvSpPr>
        <p:spPr>
          <a:xfrm>
            <a:off x="695308" y="6391115"/>
            <a:ext cx="2133695" cy="17144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上海财经大学商学院 · 创业实践课程路演</a:t>
            </a:r>
            <a:endParaRPr lang="en-US" sz="900" dirty="0"/>
          </a:p>
        </p:txBody>
      </p:sp>
      <p:sp>
        <p:nvSpPr>
          <p:cNvPr id="48" name="Text 44"/>
          <p:cNvSpPr/>
          <p:nvPr/>
        </p:nvSpPr>
        <p:spPr>
          <a:xfrm>
            <a:off x="11306934" y="6391115"/>
            <a:ext cx="322800" cy="14287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9999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7 / 10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4742" y="9525"/>
            <a:ext cx="2857429" cy="7619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525" y="1438239"/>
            <a:ext cx="38099" cy="3809905"/>
          </a:xfrm>
          <a:prstGeom prst="rect">
            <a:avLst/>
          </a:prstGeom>
          <a:solidFill>
            <a:srgbClr val="003366"/>
          </a:solidFill>
        </p:spPr>
      </p:sp>
      <p:sp>
        <p:nvSpPr>
          <p:cNvPr id="4" name="Shape 1"/>
          <p:cNvSpPr/>
          <p:nvPr/>
        </p:nvSpPr>
        <p:spPr>
          <a:xfrm>
            <a:off x="581010" y="466713"/>
            <a:ext cx="0" cy="411351"/>
          </a:xfrm>
          <a:prstGeom prst="line">
            <a:avLst/>
          </a:prstGeom>
          <a:noFill/>
          <a:ln w="57149">
            <a:solidFill>
              <a:srgbClr val="D4AF3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28654" y="476238"/>
            <a:ext cx="2457537" cy="16192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试点计划：以上财为基点的验证路径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828654" y="678044"/>
            <a:ext cx="1780238" cy="16192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8周周期内的效能提升验证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81010" y="1163807"/>
            <a:ext cx="4000400" cy="2057349"/>
          </a:xfrm>
          <a:prstGeom prst="roundRect">
            <a:avLst>
              <a:gd name="adj" fmla="val 1852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81010" y="1163807"/>
            <a:ext cx="38099" cy="2038299"/>
          </a:xfrm>
          <a:prstGeom prst="rect">
            <a:avLst/>
          </a:prstGeom>
          <a:solidFill>
            <a:srgbClr val="003366"/>
          </a:solidFill>
        </p:spPr>
      </p:sp>
      <p:sp>
        <p:nvSpPr>
          <p:cNvPr id="9" name="Text 6"/>
          <p:cNvSpPr/>
          <p:nvPr/>
        </p:nvSpPr>
        <p:spPr>
          <a:xfrm>
            <a:off x="1009625" y="1382876"/>
            <a:ext cx="579225" cy="15239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52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试点规模</a:t>
            </a:r>
            <a:endParaRPr lang="en-US" sz="10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030" y="1387639"/>
            <a:ext cx="152396" cy="15239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81030" y="1697194"/>
            <a:ext cx="476387" cy="13334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参与学生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781030" y="1849590"/>
            <a:ext cx="1752556" cy="34289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336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50</a:t>
            </a:r>
            <a:r>
              <a:rPr lang="en-US" sz="1050" dirty="0">
                <a:solidFill>
                  <a:srgbClr val="00336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名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2628834" y="1697194"/>
            <a:ext cx="590684" cy="13334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创业项目组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2628834" y="1849590"/>
            <a:ext cx="1752556" cy="34289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336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10</a:t>
            </a:r>
            <a:r>
              <a:rPr lang="en-US" sz="1050" dirty="0">
                <a:solidFill>
                  <a:srgbClr val="00336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个</a:t>
            </a:r>
            <a:endParaRPr lang="en-US" sz="1800" dirty="0"/>
          </a:p>
        </p:txBody>
      </p:sp>
      <p:sp>
        <p:nvSpPr>
          <p:cNvPr id="15" name="Shape 11"/>
          <p:cNvSpPr/>
          <p:nvPr/>
        </p:nvSpPr>
        <p:spPr>
          <a:xfrm>
            <a:off x="781030" y="2344877"/>
            <a:ext cx="3600360" cy="0"/>
          </a:xfrm>
          <a:prstGeom prst="line">
            <a:avLst/>
          </a:prstGeom>
          <a:noFill/>
          <a:ln w="9525">
            <a:solidFill>
              <a:srgbClr val="F3F4F6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781030" y="2525848"/>
            <a:ext cx="476387" cy="13334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执行周期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781030" y="2678244"/>
            <a:ext cx="3600360" cy="34289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D4AF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8</a:t>
            </a:r>
            <a:r>
              <a:rPr lang="en-US" sz="1050" dirty="0">
                <a:solidFill>
                  <a:srgbClr val="D4AF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周全程验证</a:t>
            </a:r>
            <a:endParaRPr lang="en-US" sz="1800" dirty="0"/>
          </a:p>
        </p:txBody>
      </p:sp>
      <p:sp>
        <p:nvSpPr>
          <p:cNvPr id="18" name="Shape 14"/>
          <p:cNvSpPr/>
          <p:nvPr/>
        </p:nvSpPr>
        <p:spPr>
          <a:xfrm>
            <a:off x="581010" y="3364027"/>
            <a:ext cx="4000400" cy="2257369"/>
          </a:xfrm>
          <a:prstGeom prst="roundRect">
            <a:avLst>
              <a:gd name="adj" fmla="val 1688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581010" y="3364027"/>
            <a:ext cx="38099" cy="2238319"/>
          </a:xfrm>
          <a:prstGeom prst="rect">
            <a:avLst/>
          </a:prstGeom>
          <a:solidFill>
            <a:srgbClr val="003366"/>
          </a:solidFill>
        </p:spPr>
      </p:sp>
      <p:sp>
        <p:nvSpPr>
          <p:cNvPr id="20" name="Text 16"/>
          <p:cNvSpPr/>
          <p:nvPr/>
        </p:nvSpPr>
        <p:spPr>
          <a:xfrm>
            <a:off x="1009625" y="3583096"/>
            <a:ext cx="1279295" cy="15239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52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核心质量与产出指标</a:t>
            </a:r>
            <a:endParaRPr lang="en-US" sz="1050" dirty="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030" y="3587859"/>
            <a:ext cx="152396" cy="152396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781030" y="3973612"/>
            <a:ext cx="997124" cy="15239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B55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学生BP产出速度</a:t>
            </a:r>
            <a:endParaRPr lang="en-US" sz="1050" dirty="0"/>
          </a:p>
        </p:txBody>
      </p:sp>
      <p:sp>
        <p:nvSpPr>
          <p:cNvPr id="23" name="Text 18"/>
          <p:cNvSpPr/>
          <p:nvPr/>
        </p:nvSpPr>
        <p:spPr>
          <a:xfrm>
            <a:off x="3454959" y="3906938"/>
            <a:ext cx="945481" cy="20954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提升 50%+</a:t>
            </a:r>
            <a:endParaRPr lang="en-US" sz="1500" dirty="0"/>
          </a:p>
        </p:txBody>
      </p:sp>
      <p:sp>
        <p:nvSpPr>
          <p:cNvPr id="24" name="Shape 19"/>
          <p:cNvSpPr/>
          <p:nvPr/>
        </p:nvSpPr>
        <p:spPr>
          <a:xfrm>
            <a:off x="781030" y="4297453"/>
            <a:ext cx="3600360" cy="57149"/>
          </a:xfrm>
          <a:prstGeom prst="roundRect">
            <a:avLst>
              <a:gd name="adj" fmla="val 50000"/>
            </a:avLst>
          </a:prstGeom>
          <a:solidFill>
            <a:srgbClr val="F3F4F6"/>
          </a:solidFill>
        </p:spPr>
      </p:sp>
      <p:sp>
        <p:nvSpPr>
          <p:cNvPr id="25" name="Shape 20"/>
          <p:cNvSpPr/>
          <p:nvPr/>
        </p:nvSpPr>
        <p:spPr>
          <a:xfrm>
            <a:off x="781030" y="4297453"/>
            <a:ext cx="1800180" cy="57149"/>
          </a:xfrm>
          <a:prstGeom prst="roundRect">
            <a:avLst>
              <a:gd name="adj" fmla="val 50000"/>
            </a:avLst>
          </a:prstGeom>
          <a:solidFill>
            <a:srgbClr val="D4AF37"/>
          </a:solidFill>
        </p:spPr>
      </p:sp>
      <p:sp>
        <p:nvSpPr>
          <p:cNvPr id="26" name="Text 21"/>
          <p:cNvSpPr/>
          <p:nvPr/>
        </p:nvSpPr>
        <p:spPr>
          <a:xfrm>
            <a:off x="781030" y="4602246"/>
            <a:ext cx="952476" cy="15239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B55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成果专业性评分</a:t>
            </a:r>
            <a:endParaRPr lang="en-US" sz="1050" dirty="0"/>
          </a:p>
        </p:txBody>
      </p:sp>
      <p:sp>
        <p:nvSpPr>
          <p:cNvPr id="27" name="Text 22"/>
          <p:cNvSpPr/>
          <p:nvPr/>
        </p:nvSpPr>
        <p:spPr>
          <a:xfrm>
            <a:off x="3454959" y="4535573"/>
            <a:ext cx="945481" cy="20954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提升 30%+</a:t>
            </a:r>
            <a:endParaRPr lang="en-US" sz="1500" dirty="0"/>
          </a:p>
        </p:txBody>
      </p:sp>
      <p:sp>
        <p:nvSpPr>
          <p:cNvPr id="28" name="Shape 23"/>
          <p:cNvSpPr/>
          <p:nvPr/>
        </p:nvSpPr>
        <p:spPr>
          <a:xfrm>
            <a:off x="781030" y="4926088"/>
            <a:ext cx="3600360" cy="57149"/>
          </a:xfrm>
          <a:prstGeom prst="roundRect">
            <a:avLst>
              <a:gd name="adj" fmla="val 50000"/>
            </a:avLst>
          </a:prstGeom>
          <a:solidFill>
            <a:srgbClr val="F3F4F6"/>
          </a:solidFill>
        </p:spPr>
      </p:sp>
      <p:sp>
        <p:nvSpPr>
          <p:cNvPr id="29" name="Shape 24"/>
          <p:cNvSpPr/>
          <p:nvPr/>
        </p:nvSpPr>
        <p:spPr>
          <a:xfrm>
            <a:off x="781030" y="4926088"/>
            <a:ext cx="1080019" cy="57149"/>
          </a:xfrm>
          <a:prstGeom prst="roundRect">
            <a:avLst>
              <a:gd name="adj" fmla="val 50000"/>
            </a:avLst>
          </a:prstGeom>
          <a:solidFill>
            <a:srgbClr val="003366"/>
          </a:solidFill>
        </p:spPr>
      </p:sp>
      <p:sp>
        <p:nvSpPr>
          <p:cNvPr id="30" name="Text 25"/>
          <p:cNvSpPr/>
          <p:nvPr/>
        </p:nvSpPr>
        <p:spPr>
          <a:xfrm>
            <a:off x="781030" y="5135633"/>
            <a:ext cx="3600360" cy="27621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* 基于上财商学院专业导师评审标准，通过对比试点前后的产出质量进行量化验证。</a:t>
            </a:r>
            <a:endParaRPr lang="en-US" sz="900" dirty="0"/>
          </a:p>
        </p:txBody>
      </p:sp>
      <p:sp>
        <p:nvSpPr>
          <p:cNvPr id="31" name="Shape 26"/>
          <p:cNvSpPr/>
          <p:nvPr/>
        </p:nvSpPr>
        <p:spPr>
          <a:xfrm>
            <a:off x="4867153" y="1163807"/>
            <a:ext cx="6743531" cy="3619410"/>
          </a:xfrm>
          <a:prstGeom prst="roundRect">
            <a:avLst>
              <a:gd name="adj" fmla="val 1053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4971926" y="1268579"/>
            <a:ext cx="6533987" cy="3409865"/>
          </a:xfrm>
          <a:prstGeom prst="rect">
            <a:avLst/>
          </a:prstGeom>
          <a:solidFill>
            <a:srgbClr val="FAFAFA"/>
          </a:solidFill>
        </p:spPr>
      </p:sp>
      <p:pic>
        <p:nvPicPr>
          <p:cNvPr id="33" name="Image 3" descr="preencoded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4971926" y="1268579"/>
            <a:ext cx="6533987" cy="3409865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6319531" y="4897513"/>
            <a:ext cx="3838628" cy="14287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75" i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愿景：试点计划将助力学生在各类全国级商业精英挑战赛中取得佳绩</a:t>
            </a:r>
            <a:endParaRPr lang="en-US" sz="975" dirty="0"/>
          </a:p>
        </p:txBody>
      </p:sp>
      <p:sp>
        <p:nvSpPr>
          <p:cNvPr id="35" name="Shape 29"/>
          <p:cNvSpPr/>
          <p:nvPr/>
        </p:nvSpPr>
        <p:spPr>
          <a:xfrm>
            <a:off x="4867153" y="5254692"/>
            <a:ext cx="6743531" cy="971526"/>
          </a:xfrm>
          <a:prstGeom prst="roundRect">
            <a:avLst>
              <a:gd name="adj" fmla="val 3922"/>
            </a:avLst>
          </a:prstGeom>
          <a:solidFill>
            <a:srgbClr val="003366"/>
          </a:solidFill>
        </p:spPr>
      </p:sp>
      <p:sp>
        <p:nvSpPr>
          <p:cNvPr id="36" name="Text 30"/>
          <p:cNvSpPr/>
          <p:nvPr/>
        </p:nvSpPr>
        <p:spPr>
          <a:xfrm>
            <a:off x="5486114" y="5492811"/>
            <a:ext cx="800080" cy="29526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D4AF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60%</a:t>
            </a:r>
            <a:endParaRPr lang="en-US" sz="2100" dirty="0"/>
          </a:p>
        </p:txBody>
      </p:sp>
      <p:sp>
        <p:nvSpPr>
          <p:cNvPr id="37" name="Text 31"/>
          <p:cNvSpPr/>
          <p:nvPr/>
        </p:nvSpPr>
        <p:spPr>
          <a:xfrm>
            <a:off x="5371817" y="5883326"/>
            <a:ext cx="1028823" cy="13334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教师批改时间缩短</a:t>
            </a:r>
            <a:endParaRPr lang="en-US" sz="900" dirty="0"/>
          </a:p>
        </p:txBody>
      </p:sp>
      <p:sp>
        <p:nvSpPr>
          <p:cNvPr id="38" name="Shape 32"/>
          <p:cNvSpPr/>
          <p:nvPr/>
        </p:nvSpPr>
        <p:spPr>
          <a:xfrm>
            <a:off x="7086274" y="5549960"/>
            <a:ext cx="9525" cy="380990"/>
          </a:xfrm>
          <a:prstGeom prst="rect">
            <a:avLst/>
          </a:prstGeom>
          <a:solidFill>
            <a:srgbClr val="FFFFFF">
              <a:alpha val="20000"/>
            </a:srgbClr>
          </a:solidFill>
        </p:spPr>
      </p:sp>
      <p:sp>
        <p:nvSpPr>
          <p:cNvPr id="39" name="Text 33"/>
          <p:cNvSpPr/>
          <p:nvPr/>
        </p:nvSpPr>
        <p:spPr>
          <a:xfrm>
            <a:off x="7999461" y="5492811"/>
            <a:ext cx="592768" cy="29526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D4AF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3X</a:t>
            </a:r>
            <a:endParaRPr lang="en-US" sz="2100" dirty="0"/>
          </a:p>
        </p:txBody>
      </p:sp>
      <p:sp>
        <p:nvSpPr>
          <p:cNvPr id="40" name="Text 34"/>
          <p:cNvSpPr/>
          <p:nvPr/>
        </p:nvSpPr>
        <p:spPr>
          <a:xfrm>
            <a:off x="7781433" y="5883326"/>
            <a:ext cx="1028823" cy="13334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师生互动频次提升</a:t>
            </a:r>
            <a:endParaRPr lang="en-US" sz="900" dirty="0"/>
          </a:p>
        </p:txBody>
      </p:sp>
      <p:sp>
        <p:nvSpPr>
          <p:cNvPr id="41" name="Shape 35"/>
          <p:cNvSpPr/>
          <p:nvPr/>
        </p:nvSpPr>
        <p:spPr>
          <a:xfrm>
            <a:off x="9495890" y="5549960"/>
            <a:ext cx="9525" cy="380990"/>
          </a:xfrm>
          <a:prstGeom prst="rect">
            <a:avLst/>
          </a:prstGeom>
          <a:solidFill>
            <a:srgbClr val="FFFFFF">
              <a:alpha val="20000"/>
            </a:srgbClr>
          </a:solidFill>
        </p:spPr>
      </p:sp>
      <p:sp>
        <p:nvSpPr>
          <p:cNvPr id="42" name="Text 36"/>
          <p:cNvSpPr/>
          <p:nvPr/>
        </p:nvSpPr>
        <p:spPr>
          <a:xfrm>
            <a:off x="10181524" y="5492811"/>
            <a:ext cx="933427" cy="29526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D4AF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100%</a:t>
            </a:r>
            <a:endParaRPr lang="en-US" sz="2100" dirty="0"/>
          </a:p>
        </p:txBody>
      </p:sp>
      <p:sp>
        <p:nvSpPr>
          <p:cNvPr id="43" name="Text 37"/>
          <p:cNvSpPr/>
          <p:nvPr/>
        </p:nvSpPr>
        <p:spPr>
          <a:xfrm>
            <a:off x="10191049" y="5883326"/>
            <a:ext cx="914526" cy="13334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过程化成果沉淀</a:t>
            </a:r>
            <a:endParaRPr lang="en-US" sz="900" dirty="0"/>
          </a:p>
        </p:txBody>
      </p:sp>
      <p:sp>
        <p:nvSpPr>
          <p:cNvPr id="44" name="Shape 38"/>
          <p:cNvSpPr/>
          <p:nvPr/>
        </p:nvSpPr>
        <p:spPr>
          <a:xfrm>
            <a:off x="581010" y="6419690"/>
            <a:ext cx="114297" cy="114297"/>
          </a:xfrm>
          <a:prstGeom prst="rect">
            <a:avLst/>
          </a:prstGeom>
          <a:solidFill>
            <a:srgbClr val="D4AF37"/>
          </a:solidFill>
        </p:spPr>
      </p:sp>
      <p:sp>
        <p:nvSpPr>
          <p:cNvPr id="45" name="Text 39"/>
          <p:cNvSpPr/>
          <p:nvPr/>
        </p:nvSpPr>
        <p:spPr>
          <a:xfrm>
            <a:off x="695308" y="6391115"/>
            <a:ext cx="2133695" cy="17144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上海财经大学商学院 · 创业实践课程路演</a:t>
            </a:r>
            <a:endParaRPr lang="en-US" sz="900" dirty="0"/>
          </a:p>
        </p:txBody>
      </p:sp>
      <p:sp>
        <p:nvSpPr>
          <p:cNvPr id="46" name="Text 40"/>
          <p:cNvSpPr/>
          <p:nvPr/>
        </p:nvSpPr>
        <p:spPr>
          <a:xfrm>
            <a:off x="11306934" y="6391115"/>
            <a:ext cx="322800" cy="14287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9999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8 / 10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4742" y="9525"/>
            <a:ext cx="2857429" cy="7619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525" y="1438239"/>
            <a:ext cx="38099" cy="3809905"/>
          </a:xfrm>
          <a:prstGeom prst="rect">
            <a:avLst/>
          </a:prstGeom>
          <a:solidFill>
            <a:srgbClr val="003366"/>
          </a:solidFill>
        </p:spPr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80809" y="1377221"/>
            <a:ext cx="3210887" cy="3809905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581010" y="466713"/>
            <a:ext cx="0" cy="411351"/>
          </a:xfrm>
          <a:prstGeom prst="line">
            <a:avLst/>
          </a:prstGeom>
          <a:noFill/>
          <a:ln w="57149">
            <a:solidFill>
              <a:srgbClr val="D4AF37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828654" y="476238"/>
            <a:ext cx="2259303" cy="16192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kern="0" spc="-24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风险与应对：稳健的教学保障机制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828654" y="678044"/>
            <a:ext cx="1543160" cy="16192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技术与人文指引的平衡</a:t>
            </a:r>
            <a:endParaRPr lang="en-US" sz="1200" dirty="0"/>
          </a:p>
        </p:txBody>
      </p:sp>
      <p:sp>
        <p:nvSpPr>
          <p:cNvPr id="8" name="Shape 4"/>
          <p:cNvSpPr/>
          <p:nvPr/>
        </p:nvSpPr>
        <p:spPr>
          <a:xfrm>
            <a:off x="581010" y="6419690"/>
            <a:ext cx="114297" cy="114297"/>
          </a:xfrm>
          <a:prstGeom prst="rect">
            <a:avLst/>
          </a:prstGeom>
          <a:solidFill>
            <a:srgbClr val="D4AF37"/>
          </a:solidFill>
        </p:spPr>
      </p:sp>
      <p:sp>
        <p:nvSpPr>
          <p:cNvPr id="9" name="Text 5"/>
          <p:cNvSpPr/>
          <p:nvPr/>
        </p:nvSpPr>
        <p:spPr>
          <a:xfrm>
            <a:off x="695308" y="6391115"/>
            <a:ext cx="2133695" cy="17144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上海财经大学商学院 · 创业实践课程路演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06934" y="6391115"/>
            <a:ext cx="322800" cy="14287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9999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9 / 10</a:t>
            </a:r>
            <a:endParaRPr lang="en-US" sz="10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/>
        </p:nvGraphicFramePr>
        <p:xfrm>
          <a:off x="581010" y="1163807"/>
          <a:ext cx="11029674" cy="1809705"/>
        </p:xfrm>
        <a:graphic>
          <a:graphicData uri="http://schemas.openxmlformats.org/drawingml/2006/table">
            <a:tbl>
              <a:tblPr/>
              <a:tblGrid>
                <a:gridCol w="3305985"/>
                <a:gridCol w="7714164"/>
              </a:tblGrid>
              <a:tr h="50005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风险类别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90495" marR="190495" marT="133347" marB="133347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应对措施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90495" marR="190495" marT="133347" marB="133347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</a:tr>
              <a:tr h="43337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算法幻觉 (Hallucination)</a:t>
                      </a:r>
                      <a:endParaRPr lang="en-US" sz="1125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90495" marR="190495" marT="114297" marB="11429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5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嵌入</a:t>
                      </a:r>
                      <a:r>
                        <a:rPr lang="en-US" sz="1125" b="1" dirty="0">
                          <a:solidFill>
                            <a:srgbClr val="00336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权威案例库</a:t>
                      </a:r>
                      <a:r>
                        <a:rPr lang="en-US" sz="1125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进行逻辑校验，结合商学院标准框架约束生成。</a:t>
                      </a:r>
                      <a:endParaRPr lang="en-US" sz="1125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90495" marR="190495" marT="114297" marB="11429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1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工具依赖性 (Dependency)</a:t>
                      </a:r>
                      <a:endParaRPr lang="en-US" sz="1125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90495" marR="190495" marT="114297" marB="11429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5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设置</a:t>
                      </a:r>
                      <a:r>
                        <a:rPr lang="en-US" sz="1125" b="1" dirty="0">
                          <a:solidFill>
                            <a:srgbClr val="00336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教师关键节点强介入</a:t>
                      </a:r>
                      <a:r>
                        <a:rPr lang="en-US" sz="1125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，确保学生思考在前，AI辅助在后。</a:t>
                      </a:r>
                      <a:endParaRPr lang="en-US" sz="1125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90495" marR="190495" marT="114297" marB="11429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</a:tr>
              <a:tr h="4381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数据安全 (Data Security)</a:t>
                      </a:r>
                      <a:endParaRPr lang="en-US" sz="1125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90495" marR="190495" marT="114297" marB="114297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5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符合</a:t>
                      </a:r>
                      <a:r>
                        <a:rPr lang="en-US" sz="1125" b="1" dirty="0">
                          <a:solidFill>
                            <a:srgbClr val="00336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高校等级保护标准</a:t>
                      </a:r>
                      <a:r>
                        <a:rPr lang="en-US" sz="1125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，采用脱敏算法与分级存储方案。</a:t>
                      </a:r>
                      <a:endParaRPr lang="en-US" sz="1125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90495" marR="190495" marT="114297" marB="114297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Shape 7"/>
          <p:cNvSpPr/>
          <p:nvPr/>
        </p:nvSpPr>
        <p:spPr>
          <a:xfrm>
            <a:off x="581010" y="3268779"/>
            <a:ext cx="5419590" cy="1575306"/>
          </a:xfrm>
          <a:prstGeom prst="roundRect">
            <a:avLst>
              <a:gd name="adj" fmla="val 2419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781030" y="3497374"/>
            <a:ext cx="1390615" cy="19049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内容泛化与准确性</a:t>
            </a:r>
            <a:endParaRPr lang="en-US" sz="1350" dirty="0"/>
          </a:p>
        </p:txBody>
      </p:sp>
      <p:sp>
        <p:nvSpPr>
          <p:cNvPr id="14" name="Shape 9"/>
          <p:cNvSpPr/>
          <p:nvPr/>
        </p:nvSpPr>
        <p:spPr>
          <a:xfrm>
            <a:off x="2247844" y="3492611"/>
            <a:ext cx="609734" cy="209545"/>
          </a:xfrm>
          <a:prstGeom prst="roundRect">
            <a:avLst>
              <a:gd name="adj" fmla="val 50000"/>
            </a:avLst>
          </a:prstGeom>
          <a:solidFill>
            <a:srgbClr val="FEF3C7"/>
          </a:solidFill>
        </p:spPr>
      </p:sp>
      <p:sp>
        <p:nvSpPr>
          <p:cNvPr id="15" name="Shape 10"/>
          <p:cNvSpPr/>
          <p:nvPr/>
        </p:nvSpPr>
        <p:spPr>
          <a:xfrm>
            <a:off x="2247844" y="3492611"/>
            <a:ext cx="609734" cy="209545"/>
          </a:xfrm>
          <a:prstGeom prst="roundRect">
            <a:avLst>
              <a:gd name="adj" fmla="val 50000"/>
            </a:avLst>
          </a:prstGeom>
          <a:solidFill>
            <a:srgbClr val="FEF3C7"/>
          </a:solidFill>
        </p:spPr>
      </p:sp>
      <p:sp>
        <p:nvSpPr>
          <p:cNvPr id="16" name="Text 11"/>
          <p:cNvSpPr/>
          <p:nvPr/>
        </p:nvSpPr>
        <p:spPr>
          <a:xfrm>
            <a:off x="2324042" y="3530710"/>
            <a:ext cx="476387" cy="13334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2400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核心风险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781030" y="3849790"/>
            <a:ext cx="4412197" cy="15239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针对AI可能生成的空洞行业数据或通用模板，难以满足商科实践的严谨性。</a:t>
            </a:r>
            <a:endParaRPr lang="en-US" sz="1050" dirty="0"/>
          </a:p>
        </p:txBody>
      </p:sp>
      <p:sp>
        <p:nvSpPr>
          <p:cNvPr id="18" name="Text 13"/>
          <p:cNvSpPr/>
          <p:nvPr/>
        </p:nvSpPr>
        <p:spPr>
          <a:xfrm>
            <a:off x="781030" y="4196402"/>
            <a:ext cx="499157" cy="13334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45" dirty="0">
                <a:solidFill>
                  <a:srgbClr val="D4AF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应对方案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781030" y="4463095"/>
            <a:ext cx="4945584" cy="15239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引入课程专属知识库，对AI生成的行业数据进行逻辑核验，确保符合真实商业逻辑。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6191095" y="3268779"/>
            <a:ext cx="5419590" cy="1575306"/>
          </a:xfrm>
          <a:prstGeom prst="roundRect">
            <a:avLst>
              <a:gd name="adj" fmla="val 2419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6391115" y="3497374"/>
            <a:ext cx="1047724" cy="19049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学生过度依赖</a:t>
            </a:r>
            <a:endParaRPr lang="en-US" sz="1350" dirty="0"/>
          </a:p>
        </p:txBody>
      </p:sp>
      <p:sp>
        <p:nvSpPr>
          <p:cNvPr id="22" name="Shape 17"/>
          <p:cNvSpPr/>
          <p:nvPr/>
        </p:nvSpPr>
        <p:spPr>
          <a:xfrm>
            <a:off x="7515037" y="3492611"/>
            <a:ext cx="609734" cy="209545"/>
          </a:xfrm>
          <a:prstGeom prst="roundRect">
            <a:avLst>
              <a:gd name="adj" fmla="val 50000"/>
            </a:avLst>
          </a:prstGeom>
          <a:solidFill>
            <a:srgbClr val="FEF3C7"/>
          </a:solidFill>
        </p:spPr>
      </p:sp>
      <p:sp>
        <p:nvSpPr>
          <p:cNvPr id="23" name="Shape 18"/>
          <p:cNvSpPr/>
          <p:nvPr/>
        </p:nvSpPr>
        <p:spPr>
          <a:xfrm>
            <a:off x="7515037" y="3492611"/>
            <a:ext cx="609734" cy="209545"/>
          </a:xfrm>
          <a:prstGeom prst="roundRect">
            <a:avLst>
              <a:gd name="adj" fmla="val 50000"/>
            </a:avLst>
          </a:prstGeom>
          <a:solidFill>
            <a:srgbClr val="FEF3C7"/>
          </a:solidFill>
        </p:spPr>
      </p:sp>
      <p:sp>
        <p:nvSpPr>
          <p:cNvPr id="24" name="Text 19"/>
          <p:cNvSpPr/>
          <p:nvPr/>
        </p:nvSpPr>
        <p:spPr>
          <a:xfrm>
            <a:off x="7591235" y="3530710"/>
            <a:ext cx="476387" cy="13334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2400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教学风险</a:t>
            </a:r>
            <a:endParaRPr lang="en-US" sz="900" dirty="0"/>
          </a:p>
        </p:txBody>
      </p:sp>
      <p:sp>
        <p:nvSpPr>
          <p:cNvPr id="25" name="Text 20"/>
          <p:cNvSpPr/>
          <p:nvPr/>
        </p:nvSpPr>
        <p:spPr>
          <a:xfrm>
            <a:off x="6391115" y="3849790"/>
            <a:ext cx="4278850" cy="15239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学生可能直接使用AI生成的内容提交，丧失批判性思维和实际动手能力。</a:t>
            </a:r>
            <a:endParaRPr lang="en-US" sz="1050" dirty="0"/>
          </a:p>
        </p:txBody>
      </p:sp>
      <p:sp>
        <p:nvSpPr>
          <p:cNvPr id="26" name="Text 21"/>
          <p:cNvSpPr/>
          <p:nvPr/>
        </p:nvSpPr>
        <p:spPr>
          <a:xfrm>
            <a:off x="6391115" y="4196402"/>
            <a:ext cx="499157" cy="13334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45" dirty="0">
                <a:solidFill>
                  <a:srgbClr val="D4AF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应对方案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6391115" y="4463095"/>
            <a:ext cx="4619510" cy="15239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强制设置教师审核节点，将AI定义为“助手”而非“写手”，记录Prompt迭代过程。</a:t>
            </a:r>
            <a:endParaRPr lang="en-US" sz="1050" dirty="0"/>
          </a:p>
        </p:txBody>
      </p:sp>
      <p:sp>
        <p:nvSpPr>
          <p:cNvPr id="28" name="Shape 23"/>
          <p:cNvSpPr/>
          <p:nvPr/>
        </p:nvSpPr>
        <p:spPr>
          <a:xfrm>
            <a:off x="581010" y="5034581"/>
            <a:ext cx="5419590" cy="1575306"/>
          </a:xfrm>
          <a:prstGeom prst="roundRect">
            <a:avLst>
              <a:gd name="adj" fmla="val 2419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781030" y="5263175"/>
            <a:ext cx="1047724" cy="19049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数据隐私安全</a:t>
            </a:r>
            <a:endParaRPr lang="en-US" sz="1350" dirty="0"/>
          </a:p>
        </p:txBody>
      </p:sp>
      <p:sp>
        <p:nvSpPr>
          <p:cNvPr id="30" name="Shape 25"/>
          <p:cNvSpPr/>
          <p:nvPr/>
        </p:nvSpPr>
        <p:spPr>
          <a:xfrm>
            <a:off x="1904952" y="5258413"/>
            <a:ext cx="609734" cy="209545"/>
          </a:xfrm>
          <a:prstGeom prst="roundRect">
            <a:avLst>
              <a:gd name="adj" fmla="val 50000"/>
            </a:avLst>
          </a:prstGeom>
          <a:solidFill>
            <a:srgbClr val="FEF3C7"/>
          </a:solidFill>
        </p:spPr>
      </p:sp>
      <p:sp>
        <p:nvSpPr>
          <p:cNvPr id="31" name="Shape 26"/>
          <p:cNvSpPr/>
          <p:nvPr/>
        </p:nvSpPr>
        <p:spPr>
          <a:xfrm>
            <a:off x="1904952" y="5258413"/>
            <a:ext cx="609734" cy="209545"/>
          </a:xfrm>
          <a:prstGeom prst="roundRect">
            <a:avLst>
              <a:gd name="adj" fmla="val 50000"/>
            </a:avLst>
          </a:prstGeom>
          <a:solidFill>
            <a:srgbClr val="FEF3C7"/>
          </a:solidFill>
        </p:spPr>
      </p:sp>
      <p:sp>
        <p:nvSpPr>
          <p:cNvPr id="32" name="Text 27"/>
          <p:cNvSpPr/>
          <p:nvPr/>
        </p:nvSpPr>
        <p:spPr>
          <a:xfrm>
            <a:off x="1981150" y="5296512"/>
            <a:ext cx="476387" cy="13334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2400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合规风险</a:t>
            </a:r>
            <a:endParaRPr lang="en-US" sz="900" dirty="0"/>
          </a:p>
        </p:txBody>
      </p:sp>
      <p:sp>
        <p:nvSpPr>
          <p:cNvPr id="33" name="Text 28"/>
          <p:cNvSpPr/>
          <p:nvPr/>
        </p:nvSpPr>
        <p:spPr>
          <a:xfrm>
            <a:off x="781030" y="5615591"/>
            <a:ext cx="4464137" cy="15239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学生商业计划书（BP）涉及创意资产，若泄露将影响专利申请或竞赛公平。</a:t>
            </a:r>
            <a:endParaRPr lang="en-US" sz="1050" dirty="0"/>
          </a:p>
        </p:txBody>
      </p:sp>
      <p:sp>
        <p:nvSpPr>
          <p:cNvPr id="34" name="Text 29"/>
          <p:cNvSpPr/>
          <p:nvPr/>
        </p:nvSpPr>
        <p:spPr>
          <a:xfrm>
            <a:off x="781030" y="5962203"/>
            <a:ext cx="499157" cy="13334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45" dirty="0">
                <a:solidFill>
                  <a:srgbClr val="D4AF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应对方案</a:t>
            </a:r>
            <a:endParaRPr lang="en-US" sz="900" dirty="0"/>
          </a:p>
        </p:txBody>
      </p:sp>
      <p:sp>
        <p:nvSpPr>
          <p:cNvPr id="35" name="Text 30"/>
          <p:cNvSpPr/>
          <p:nvPr/>
        </p:nvSpPr>
        <p:spPr>
          <a:xfrm>
            <a:off x="781030" y="6228897"/>
            <a:ext cx="4686183" cy="15239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采用私有化部署或严格的数据脱敏协议，确保师生创意资产在受控环境中运行。</a:t>
            </a:r>
            <a:endParaRPr lang="en-US" sz="1050" dirty="0"/>
          </a:p>
        </p:txBody>
      </p:sp>
      <p:sp>
        <p:nvSpPr>
          <p:cNvPr id="36" name="Shape 31"/>
          <p:cNvSpPr/>
          <p:nvPr/>
        </p:nvSpPr>
        <p:spPr>
          <a:xfrm>
            <a:off x="6191095" y="5034581"/>
            <a:ext cx="5419590" cy="1575306"/>
          </a:xfrm>
          <a:prstGeom prst="roundRect">
            <a:avLst>
              <a:gd name="adj" fmla="val 2419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6391115" y="5263175"/>
            <a:ext cx="1047724" cy="19049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教学质量把控</a:t>
            </a:r>
            <a:endParaRPr lang="en-US" sz="1350" dirty="0"/>
          </a:p>
        </p:txBody>
      </p:sp>
      <p:sp>
        <p:nvSpPr>
          <p:cNvPr id="38" name="Shape 33"/>
          <p:cNvSpPr/>
          <p:nvPr/>
        </p:nvSpPr>
        <p:spPr>
          <a:xfrm>
            <a:off x="7515037" y="5258413"/>
            <a:ext cx="609734" cy="209545"/>
          </a:xfrm>
          <a:prstGeom prst="roundRect">
            <a:avLst>
              <a:gd name="adj" fmla="val 50000"/>
            </a:avLst>
          </a:prstGeom>
          <a:solidFill>
            <a:srgbClr val="FEF3C7"/>
          </a:solidFill>
        </p:spPr>
      </p:sp>
      <p:sp>
        <p:nvSpPr>
          <p:cNvPr id="39" name="Shape 34"/>
          <p:cNvSpPr/>
          <p:nvPr/>
        </p:nvSpPr>
        <p:spPr>
          <a:xfrm>
            <a:off x="7515037" y="5258413"/>
            <a:ext cx="609734" cy="209545"/>
          </a:xfrm>
          <a:prstGeom prst="roundRect">
            <a:avLst>
              <a:gd name="adj" fmla="val 50000"/>
            </a:avLst>
          </a:prstGeom>
          <a:solidFill>
            <a:srgbClr val="FEF3C7"/>
          </a:solidFill>
        </p:spPr>
      </p:sp>
      <p:sp>
        <p:nvSpPr>
          <p:cNvPr id="40" name="Text 35"/>
          <p:cNvSpPr/>
          <p:nvPr/>
        </p:nvSpPr>
        <p:spPr>
          <a:xfrm>
            <a:off x="7591235" y="5296512"/>
            <a:ext cx="476387" cy="13334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2400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管理风险</a:t>
            </a:r>
            <a:endParaRPr lang="en-US" sz="900" dirty="0"/>
          </a:p>
        </p:txBody>
      </p:sp>
      <p:sp>
        <p:nvSpPr>
          <p:cNvPr id="41" name="Text 36"/>
          <p:cNvSpPr/>
          <p:nvPr/>
        </p:nvSpPr>
        <p:spPr>
          <a:xfrm>
            <a:off x="6391115" y="5615591"/>
            <a:ext cx="4004865" cy="15239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AI辅助环节黑盒化，导致教学评估难以区分学生贡献度与AI参与度。</a:t>
            </a:r>
            <a:endParaRPr lang="en-US" sz="1050" dirty="0"/>
          </a:p>
        </p:txBody>
      </p:sp>
      <p:sp>
        <p:nvSpPr>
          <p:cNvPr id="42" name="Text 37"/>
          <p:cNvSpPr/>
          <p:nvPr/>
        </p:nvSpPr>
        <p:spPr>
          <a:xfrm>
            <a:off x="6391115" y="5962203"/>
            <a:ext cx="499157" cy="13334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45" dirty="0">
                <a:solidFill>
                  <a:srgbClr val="D4AF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应对方案</a:t>
            </a:r>
            <a:endParaRPr lang="en-US" sz="900" dirty="0"/>
          </a:p>
        </p:txBody>
      </p:sp>
      <p:sp>
        <p:nvSpPr>
          <p:cNvPr id="43" name="Text 38"/>
          <p:cNvSpPr/>
          <p:nvPr/>
        </p:nvSpPr>
        <p:spPr>
          <a:xfrm>
            <a:off x="6391115" y="6228897"/>
            <a:ext cx="4819530" cy="15239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实施全过程日志审计，通过后台数据画像确保教学行为的可追溯性与评估真实性。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" y="9525"/>
            <a:ext cx="12172646" cy="114297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5943" y="0"/>
            <a:ext cx="7619809" cy="6857829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77218" y="771506"/>
            <a:ext cx="1142971" cy="1142971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581010" y="6419690"/>
            <a:ext cx="114297" cy="114297"/>
          </a:xfrm>
          <a:prstGeom prst="rect">
            <a:avLst/>
          </a:prstGeom>
          <a:solidFill>
            <a:srgbClr val="D4AF37"/>
          </a:solidFill>
        </p:spPr>
      </p:sp>
      <p:sp>
        <p:nvSpPr>
          <p:cNvPr id="6" name="Text 1"/>
          <p:cNvSpPr/>
          <p:nvPr/>
        </p:nvSpPr>
        <p:spPr>
          <a:xfrm>
            <a:off x="523862" y="6391115"/>
            <a:ext cx="2343240" cy="17144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上海财经大学商学院 · 创业实践课程路演</a:t>
            </a:r>
            <a:endParaRPr lang="en-US" sz="900" dirty="0"/>
          </a:p>
        </p:txBody>
      </p:sp>
      <p:sp>
        <p:nvSpPr>
          <p:cNvPr id="7" name="Text 2"/>
          <p:cNvSpPr/>
          <p:nvPr/>
        </p:nvSpPr>
        <p:spPr>
          <a:xfrm>
            <a:off x="11173587" y="6391115"/>
            <a:ext cx="503771" cy="14287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9999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10 / 10</a:t>
            </a:r>
            <a:endParaRPr lang="en-US" sz="1050" dirty="0"/>
          </a:p>
        </p:txBody>
      </p:sp>
      <p:sp>
        <p:nvSpPr>
          <p:cNvPr id="8" name="Text 3"/>
          <p:cNvSpPr/>
          <p:nvPr/>
        </p:nvSpPr>
        <p:spPr>
          <a:xfrm>
            <a:off x="3341554" y="5905352"/>
            <a:ext cx="5508587" cy="15239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50" kern="0" spc="105" dirty="0">
                <a:solidFill>
                  <a:srgbClr val="BBBBB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PROCESS VISIBLE · FEEDBACK TRACEABLE · RESULTS ACCUMULATED</a:t>
            </a:r>
            <a:endParaRPr lang="en-US" sz="1050" dirty="0"/>
          </a:p>
        </p:txBody>
      </p:sp>
      <p:sp>
        <p:nvSpPr>
          <p:cNvPr id="9" name="Text 4"/>
          <p:cNvSpPr/>
          <p:nvPr/>
        </p:nvSpPr>
        <p:spPr>
          <a:xfrm>
            <a:off x="4219470" y="1113504"/>
            <a:ext cx="3752756" cy="685783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4800" b="1" kern="0" spc="15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感谢观看！</a:t>
            </a:r>
            <a:endParaRPr lang="en-US" sz="4800" dirty="0"/>
          </a:p>
        </p:txBody>
      </p:sp>
      <p:sp>
        <p:nvSpPr>
          <p:cNvPr id="10" name="Shape 5"/>
          <p:cNvSpPr/>
          <p:nvPr/>
        </p:nvSpPr>
        <p:spPr>
          <a:xfrm>
            <a:off x="1333467" y="2294575"/>
            <a:ext cx="9524762" cy="2068659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1" name="Shape 6"/>
          <p:cNvSpPr/>
          <p:nvPr/>
        </p:nvSpPr>
        <p:spPr>
          <a:xfrm>
            <a:off x="1333467" y="2294575"/>
            <a:ext cx="9524762" cy="0"/>
          </a:xfrm>
          <a:prstGeom prst="line">
            <a:avLst/>
          </a:prstGeom>
          <a:noFill/>
          <a:ln w="38099">
            <a:solidFill>
              <a:srgbClr val="D4AF37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3352567" y="2770813"/>
            <a:ext cx="5486412" cy="39051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让创业实践过程可见，成果可沉淀</a:t>
            </a:r>
            <a:endParaRPr lang="en-US" sz="2700" dirty="0"/>
          </a:p>
        </p:txBody>
      </p:sp>
      <p:sp>
        <p:nvSpPr>
          <p:cNvPr id="13" name="Text 8"/>
          <p:cNvSpPr/>
          <p:nvPr/>
        </p:nvSpPr>
        <p:spPr>
          <a:xfrm>
            <a:off x="3843093" y="3428021"/>
            <a:ext cx="4505361" cy="238119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期待与您共同定义 AI 时代的商科人才培养模式</a:t>
            </a:r>
            <a:endParaRPr lang="en-US" sz="1650" dirty="0"/>
          </a:p>
        </p:txBody>
      </p:sp>
      <p:sp>
        <p:nvSpPr>
          <p:cNvPr id="14" name="Shape 9"/>
          <p:cNvSpPr/>
          <p:nvPr/>
        </p:nvSpPr>
        <p:spPr>
          <a:xfrm>
            <a:off x="5105272" y="3944144"/>
            <a:ext cx="609585" cy="38099"/>
          </a:xfrm>
          <a:prstGeom prst="rect">
            <a:avLst/>
          </a:prstGeom>
          <a:solidFill>
            <a:srgbClr val="003366"/>
          </a:solidFill>
        </p:spPr>
      </p:sp>
      <p:sp>
        <p:nvSpPr>
          <p:cNvPr id="15" name="Shape 10"/>
          <p:cNvSpPr/>
          <p:nvPr/>
        </p:nvSpPr>
        <p:spPr>
          <a:xfrm>
            <a:off x="5791055" y="3944144"/>
            <a:ext cx="609585" cy="38099"/>
          </a:xfrm>
          <a:prstGeom prst="rect">
            <a:avLst/>
          </a:prstGeom>
          <a:solidFill>
            <a:srgbClr val="D4AF37"/>
          </a:solidFill>
        </p:spPr>
      </p:sp>
      <p:sp>
        <p:nvSpPr>
          <p:cNvPr id="16" name="Shape 11"/>
          <p:cNvSpPr/>
          <p:nvPr/>
        </p:nvSpPr>
        <p:spPr>
          <a:xfrm>
            <a:off x="6476838" y="3944144"/>
            <a:ext cx="609585" cy="38099"/>
          </a:xfrm>
          <a:prstGeom prst="rect">
            <a:avLst/>
          </a:prstGeom>
          <a:solidFill>
            <a:srgbClr val="003366"/>
          </a:solidFill>
        </p:spPr>
      </p:sp>
      <p:sp>
        <p:nvSpPr>
          <p:cNvPr id="17" name="Shape 12"/>
          <p:cNvSpPr/>
          <p:nvPr/>
        </p:nvSpPr>
        <p:spPr>
          <a:xfrm>
            <a:off x="1333467" y="4934720"/>
            <a:ext cx="9524762" cy="0"/>
          </a:xfrm>
          <a:prstGeom prst="line">
            <a:avLst/>
          </a:prstGeom>
          <a:noFill/>
          <a:ln w="9525">
            <a:solidFill>
              <a:srgbClr val="EEEEEE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5619989" y="5343649"/>
            <a:ext cx="419090" cy="15239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50" kern="0" spc="75" dirty="0">
                <a:solidFill>
                  <a:srgbClr val="9999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日期</a:t>
            </a:r>
            <a:endParaRPr lang="en-US" sz="1050" dirty="0"/>
          </a:p>
        </p:txBody>
      </p:sp>
      <p:sp>
        <p:nvSpPr>
          <p:cNvPr id="23" name="Text 18"/>
          <p:cNvSpPr/>
          <p:nvPr/>
        </p:nvSpPr>
        <p:spPr>
          <a:xfrm>
            <a:off x="5105205" y="5631297"/>
            <a:ext cx="1448657" cy="19049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2026年06月10日</a:t>
            </a:r>
            <a:endParaRPr lang="en-US" sz="135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YzI4YjI0MmY5OGFiMzlmOWM3ZjE2Y2I4YWJlNmNmNjAifQ==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3429</Words>
  <Application>WPS 演示</Application>
  <PresentationFormat>On-screen Show (16:9)</PresentationFormat>
  <Paragraphs>408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1" baseType="lpstr">
      <vt:lpstr>Arial</vt:lpstr>
      <vt:lpstr>宋体</vt:lpstr>
      <vt:lpstr>Wingdings</vt:lpstr>
      <vt:lpstr>微软雅黑</vt:lpstr>
      <vt:lpstr>微软雅黑</vt:lpstr>
      <vt:lpstr>Arial</vt:lpstr>
      <vt:lpstr>Arial</vt:lpstr>
      <vt:lpstr>Calibri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就业教练：面向商学院学生的职业发展与创业实践训练平台</dc:title>
  <dc:creator/>
  <dc:subject>RequestID: 42911505-ec67-4431-8c5a-d8e95c4a7878</dc:subject>
  <cp:lastModifiedBy>.</cp:lastModifiedBy>
  <cp:revision>2</cp:revision>
  <dcterms:created xsi:type="dcterms:W3CDTF">2026-06-10T13:04:00Z</dcterms:created>
  <dcterms:modified xsi:type="dcterms:W3CDTF">2026-06-10T13:06:16Z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2A9F231BD3BE407987491AA51C3EA444_12</vt:lpwstr>
  </property>
  <property fmtid="{D5CDD505-2E9C-101B-9397-08002B2CF9AE}" pid="3" name="KSOProductBuildVer">
    <vt:lpwstr>2052-12.1.0.16250</vt:lpwstr>
  </property>
</Properties>
</file>